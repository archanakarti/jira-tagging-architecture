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bar"/>
        <c:grouping val="stacked"/>
        <c:varyColors val="0"/>
        <c:ser>
          <c:idx val="0"/>
          <c:order val="0"/>
          <c:tx>
            <c:strRef>
              <c:f>Sheet1!$B$1</c:f>
              <c:strCache>
                <c:ptCount val="1"/>
                <c:pt idx="0">
                  <c:v>AI Actions</c:v>
                </c:pt>
              </c:strCache>
            </c:strRef>
          </c:tx>
          <c:spPr>
            <a:solidFill>
              <a:srgbClr val="4F46E5"/>
            </a:solidFill>
            <a:effectLst/>
          </c:spPr>
          <c:invertIfNegative val="0"/>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cat>
            <c:multiLvlStrRef>
              <c:f>Sheet1!$A$2:$A$2</c:f>
              <c:multiLvlStrCache>
                <c:ptCount val="1"/>
                <c:lvl>
                  <c:pt idx="0">
                    <c:v>EPIC-42</c:v>
                  </c:pt>
                </c:lvl>
              </c:multiLvlStrCache>
            </c:multiLvlStrRef>
          </c:cat>
          <c:val>
            <c:numRef>
              <c:f>Sheet1!$B$2:$B$2</c:f>
              <c:numCache>
                <c:formatCode>General</c:formatCode>
                <c:ptCount val="1"/>
                <c:pt idx="0">
                  <c:v>65</c:v>
                </c:pt>
              </c:numCache>
            </c:numRef>
          </c:val>
        </c:ser>
        <c:ser>
          <c:idx val="1"/>
          <c:order val="1"/>
          <c:tx>
            <c:strRef>
              <c:f>Sheet1!$C$1</c:f>
              <c:strCache>
                <c:ptCount val="1"/>
                <c:pt idx="0">
                  <c:v>Human Actions</c:v>
                </c:pt>
              </c:strCache>
            </c:strRef>
          </c:tx>
          <c:spPr>
            <a:solidFill>
              <a:srgbClr val="059669"/>
            </a:solidFill>
            <a:effectLst/>
          </c:spPr>
          <c:invertIfNegative val="0"/>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cat>
            <c:multiLvlStrRef>
              <c:f>Sheet1!$A$2:$A$2</c:f>
              <c:multiLvlStrCache>
                <c:ptCount val="1"/>
                <c:lvl>
                  <c:pt idx="0">
                    <c:v>EPIC-42</c:v>
                  </c:pt>
                </c:lvl>
              </c:multiLvlStrCache>
            </c:multiLvlStrRef>
          </c:cat>
          <c:val>
            <c:numRef>
              <c:f>Sheet1!$C$2:$C$2</c:f>
              <c:numCache>
                <c:formatCode>General</c:formatCode>
                <c:ptCount val="1"/>
                <c:pt idx="0">
                  <c:v>35</c:v>
                </c:pt>
              </c:numCache>
            </c:numRef>
          </c:val>
        </c:ser>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pieChart>
        <c:varyColors val="1"/>
        <c:ser>
          <c:idx val="0"/>
          <c:order val="0"/>
          <c:tx>
            <c:strRef>
              <c:f>Sheet1!$B$1</c:f>
              <c:strCache>
                <c:ptCount val="1"/>
                <c:pt idx="0">
                  <c:v>Source</c:v>
                </c:pt>
              </c:strCache>
            </c:strRef>
          </c:tx>
          <c:spPr>
            <a:solidFill>
              <a:schemeClr val="accent1"/>
            </a:solidFill>
            <a:ln w="9525" cap="flat">
              <a:solidFill>
                <a:srgbClr val="F9F9F9"/>
              </a:solidFill>
              <a:prstDash val="solid"/>
              <a:round/>
            </a:ln>
            <a:effectLst/>
          </c:spPr>
          <c:dPt>
            <c:idx val="0"/>
            <c:bubble3D val="0"/>
            <c:spPr>
              <a:solidFill>
                <a:srgbClr val="4F46E5"/>
              </a:solidFill>
              <a:effectLst/>
            </c:spPr>
          </c:dPt>
          <c:dPt>
            <c:idx val="1"/>
            <c:bubble3D val="0"/>
            <c:spPr>
              <a:solidFill>
                <a:srgbClr val="059669"/>
              </a:solidFill>
              <a:effectLst/>
            </c:spPr>
          </c:dPt>
          <c:dLbls>
            <c:dLbl>
              <c:idx val="0"/>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Sheet1!$A$2:$A$3</c:f>
              <c:strCache>
                <c:ptCount val="2"/>
                <c:pt idx="0">
                  <c:v>AI Actions (66%)</c:v>
                </c:pt>
                <c:pt idx="1">
                  <c:v>Human Actions (34%)</c:v>
                </c:pt>
              </c:strCache>
            </c:strRef>
          </c:cat>
          <c:val>
            <c:numRef>
              <c:f>Sheet1!$B$2:$B$3</c:f>
              <c:numCache>
                <c:ptCount val="2"/>
                <c:pt idx="0">
                  <c:v>66</c:v>
                </c:pt>
                <c:pt idx="1">
                  <c:v>34</c:v>
                </c:pt>
              </c:numCache>
            </c:numRef>
          </c:val>
        </c:ser>
        <c:firstSliceAng val="0"/>
      </c:pieChart>
      <c:spPr>
        <a:noFill/>
        <a:ln>
          <a:noFill/>
        </a:ln>
        <a:effectLst/>
      </c:spPr>
    </c:plotArea>
    <c:legend>
      <c:legendPos val="b"/>
      <c:overlay val="0"/>
      <c:txPr>
        <a:bodyPr/>
        <a:lstStyle/>
        <a:p>
          <a:pPr>
            <a:defRPr sz="900">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presentation covers our approach to tracking AI vs Human activity in Jira using existing REST API v2 — no new tools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full system architecture. Two action sources — AI and Human — both feed into the same Jira Worklog Properties API. The key insight is that the source is known at the point of calling, so AI hardcodes its own tag, and the webhook listener tags human actions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always knows its own source — it hardcodes AI_MCP. Humans are caught via webhook — the server checks the actor email. Both write to the same Worklog Properties API. No external database is needed — Jira holds all the tag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queries Jira directly — no external database needed. Use JQL to filter by Epic Link or fixVersion for PI. For each issue returned, read the worklog properties to count AI vs Human tags. This gives leadership a live view of AI adoption across any Epic or 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6 APIs are existing standard Jira REST API v2 endpoints. Nothing new is created. The worklog-source property key is just a name we define — Jira already supports storing custom JSON on any worklog object via Entity Properties.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1.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1.xml"/><Relationship Id="rId4" Type="http://schemas.openxmlformats.org/officeDocument/2006/relationships/chart" Target="/ppt/charts/chart2.xml"/><Relationship Id="rId1" Type="http://schemas.openxmlformats.org/officeDocument/2006/relationships/image" Target="../media/image-4-1.png"/><Relationship Id="rId3" Type="http://schemas.openxmlformats.org/officeDocument/2006/relationships/image" Target="../media/image-4-2.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p:bgPr>
    </p:bg>
    <p:spTree>
      <p:nvGrpSpPr>
        <p:cNvPr id="1" name=""/>
        <p:cNvGrpSpPr/>
        <p:nvPr/>
      </p:nvGrpSpPr>
      <p:grpSpPr>
        <a:xfrm>
          <a:off x="0" y="0"/>
          <a:ext cx="0" cy="0"/>
          <a:chOff x="0" y="0"/>
          <a:chExt cx="0" cy="0"/>
        </a:xfrm>
      </p:grpSpPr>
      <p:sp>
        <p:nvSpPr>
          <p:cNvPr id="2" name="Shape 0"/>
          <p:cNvSpPr/>
          <p:nvPr/>
        </p:nvSpPr>
        <p:spPr>
          <a:xfrm>
            <a:off x="7132320" y="-731520"/>
            <a:ext cx="3200400" cy="3200400"/>
          </a:xfrm>
          <a:prstGeom prst="ellipse">
            <a:avLst/>
          </a:prstGeom>
          <a:solidFill>
            <a:srgbClr val="2563EB">
              <a:alpha val="25000"/>
            </a:srgbClr>
          </a:solidFill>
          <a:ln w="12700">
            <a:solidFill>
              <a:srgbClr val="2563EB">
                <a:alpha val="25000"/>
              </a:srgbClr>
            </a:solidFill>
            <a:prstDash val="solid"/>
          </a:ln>
        </p:spPr>
      </p:sp>
      <p:sp>
        <p:nvSpPr>
          <p:cNvPr id="3" name="Shape 1"/>
          <p:cNvSpPr/>
          <p:nvPr/>
        </p:nvSpPr>
        <p:spPr>
          <a:xfrm>
            <a:off x="7772400" y="-274320"/>
            <a:ext cx="2011680" cy="2011680"/>
          </a:xfrm>
          <a:prstGeom prst="ellipse">
            <a:avLst/>
          </a:prstGeom>
          <a:solidFill>
            <a:srgbClr val="4F46E5">
              <a:alpha val="35000"/>
            </a:srgbClr>
          </a:solidFill>
          <a:ln w="12700">
            <a:solidFill>
              <a:srgbClr val="4F46E5">
                <a:alpha val="35000"/>
              </a:srgbClr>
            </a:solidFill>
            <a:prstDash val="solid"/>
          </a:ln>
        </p:spPr>
      </p:sp>
      <p:sp>
        <p:nvSpPr>
          <p:cNvPr id="4" name="Shape 2"/>
          <p:cNvSpPr/>
          <p:nvPr/>
        </p:nvSpPr>
        <p:spPr>
          <a:xfrm>
            <a:off x="-731520" y="3474720"/>
            <a:ext cx="2560320" cy="2560320"/>
          </a:xfrm>
          <a:prstGeom prst="ellipse">
            <a:avLst/>
          </a:prstGeom>
          <a:solidFill>
            <a:srgbClr val="059669">
              <a:alpha val="20000"/>
            </a:srgbClr>
          </a:solidFill>
          <a:ln w="12700">
            <a:solidFill>
              <a:srgbClr val="059669">
                <a:alpha val="20000"/>
              </a:srgbClr>
            </a:solidFill>
            <a:prstDash val="solid"/>
          </a:ln>
        </p:spPr>
      </p:sp>
      <p:sp>
        <p:nvSpPr>
          <p:cNvPr id="5" name="Text 3"/>
          <p:cNvSpPr/>
          <p:nvPr/>
        </p:nvSpPr>
        <p:spPr>
          <a:xfrm>
            <a:off x="640080" y="1188720"/>
            <a:ext cx="7772400" cy="822960"/>
          </a:xfrm>
          <a:prstGeom prst="rect">
            <a:avLst/>
          </a:prstGeom>
          <a:noFill/>
          <a:ln/>
        </p:spPr>
        <p:txBody>
          <a:bodyPr wrap="square"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Jira AI vs Human</a:t>
            </a:r>
            <a:endParaRPr lang="en-US" sz="3800" dirty="0"/>
          </a:p>
        </p:txBody>
      </p:sp>
      <p:sp>
        <p:nvSpPr>
          <p:cNvPr id="6" name="Text 4"/>
          <p:cNvSpPr/>
          <p:nvPr/>
        </p:nvSpPr>
        <p:spPr>
          <a:xfrm>
            <a:off x="640080" y="1920240"/>
            <a:ext cx="7772400" cy="822960"/>
          </a:xfrm>
          <a:prstGeom prst="rect">
            <a:avLst/>
          </a:prstGeom>
          <a:noFill/>
          <a:ln/>
        </p:spPr>
        <p:txBody>
          <a:bodyPr wrap="square" rtlCol="0" anchor="ctr"/>
          <a:lstStyle/>
          <a:p>
            <a:pPr indent="0" marL="0">
              <a:buNone/>
            </a:pPr>
            <a:r>
              <a:rPr lang="en-US" sz="3800" b="1" dirty="0">
                <a:solidFill>
                  <a:srgbClr val="818CF8"/>
                </a:solidFill>
                <a:latin typeface="Calibri" pitchFamily="34" charset="0"/>
                <a:ea typeface="Calibri" pitchFamily="34" charset="-122"/>
                <a:cs typeface="Calibri" pitchFamily="34" charset="-120"/>
              </a:rPr>
              <a:t>Activity Tracker</a:t>
            </a:r>
            <a:endParaRPr lang="en-US" sz="3800" dirty="0"/>
          </a:p>
        </p:txBody>
      </p:sp>
      <p:sp>
        <p:nvSpPr>
          <p:cNvPr id="7" name="Text 5"/>
          <p:cNvSpPr/>
          <p:nvPr/>
        </p:nvSpPr>
        <p:spPr>
          <a:xfrm>
            <a:off x="640080" y="2834640"/>
            <a:ext cx="7772400" cy="1005840"/>
          </a:xfrm>
          <a:prstGeom prst="rect">
            <a:avLst/>
          </a:prstGeom>
          <a:noFill/>
          <a:ln/>
        </p:spPr>
        <p:txBody>
          <a:bodyPr wrap="square" rtlCol="0" anchor="ctr"/>
          <a:lstStyle/>
          <a:p>
            <a:pPr indent="0" marL="0">
              <a:lnSpc>
                <a:spcPct val="130000"/>
              </a:lnSpc>
              <a:buNone/>
            </a:pPr>
            <a:r>
              <a:rPr lang="en-US" sz="1400" dirty="0">
                <a:solidFill>
                  <a:srgbClr val="94A3B8"/>
                </a:solidFill>
                <a:latin typeface="Calibri" pitchFamily="34" charset="0"/>
                <a:ea typeface="Calibri" pitchFamily="34" charset="-122"/>
                <a:cs typeface="Calibri" pitchFamily="34" charset="-120"/>
              </a:rPr>
              <a:t>Using Jira REST API v2 Worklog Properties to silently tag every action as AI or Human —</a:t>
            </a:r>
            <a:endParaRPr lang="en-US" sz="1400" dirty="0"/>
          </a:p>
          <a:p>
            <a:pPr indent="0" marL="0">
              <a:lnSpc>
                <a:spcPct val="130000"/>
              </a:lnSpc>
              <a:buNone/>
            </a:pPr>
            <a:r>
              <a:rPr lang="en-US" sz="1400" dirty="0">
                <a:solidFill>
                  <a:srgbClr val="94A3B8"/>
                </a:solidFill>
                <a:latin typeface="Calibri" pitchFamily="34" charset="0"/>
                <a:ea typeface="Calibri" pitchFamily="34" charset="-122"/>
                <a:cs typeface="Calibri" pitchFamily="34" charset="-120"/>
              </a:rPr>
              <a:t>queryable by Epic or PI from a central dashboard</a:t>
            </a:r>
            <a:endParaRPr lang="en-US" sz="1400" dirty="0"/>
          </a:p>
        </p:txBody>
      </p:sp>
      <p:sp>
        <p:nvSpPr>
          <p:cNvPr id="8" name="Shape 6"/>
          <p:cNvSpPr/>
          <p:nvPr/>
        </p:nvSpPr>
        <p:spPr>
          <a:xfrm>
            <a:off x="640080" y="4251960"/>
            <a:ext cx="2377440" cy="411480"/>
          </a:xfrm>
          <a:prstGeom prst="roundRect">
            <a:avLst>
              <a:gd name="adj" fmla="val 11111"/>
            </a:avLst>
          </a:prstGeom>
          <a:solidFill>
            <a:srgbClr val="4F46E5">
              <a:alpha val="20000"/>
            </a:srgbClr>
          </a:solidFill>
          <a:ln w="12700">
            <a:solidFill>
              <a:srgbClr val="4F46E5">
                <a:alpha val="50000"/>
              </a:srgbClr>
            </a:solidFill>
            <a:prstDash val="solid"/>
          </a:ln>
        </p:spPr>
      </p:sp>
      <p:sp>
        <p:nvSpPr>
          <p:cNvPr id="9" name="Text 7"/>
          <p:cNvSpPr/>
          <p:nvPr/>
        </p:nvSpPr>
        <p:spPr>
          <a:xfrm>
            <a:off x="640080" y="4251960"/>
            <a:ext cx="237744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 new APIs</a:t>
            </a:r>
            <a:endParaRPr lang="en-US" sz="1100" dirty="0"/>
          </a:p>
        </p:txBody>
      </p:sp>
      <p:sp>
        <p:nvSpPr>
          <p:cNvPr id="10" name="Shape 8"/>
          <p:cNvSpPr/>
          <p:nvPr/>
        </p:nvSpPr>
        <p:spPr>
          <a:xfrm>
            <a:off x="3383280" y="4251960"/>
            <a:ext cx="2377440" cy="411480"/>
          </a:xfrm>
          <a:prstGeom prst="roundRect">
            <a:avLst>
              <a:gd name="adj" fmla="val 11111"/>
            </a:avLst>
          </a:prstGeom>
          <a:solidFill>
            <a:srgbClr val="059669">
              <a:alpha val="20000"/>
            </a:srgbClr>
          </a:solidFill>
          <a:ln w="12700">
            <a:solidFill>
              <a:srgbClr val="059669">
                <a:alpha val="50000"/>
              </a:srgbClr>
            </a:solidFill>
            <a:prstDash val="solid"/>
          </a:ln>
        </p:spPr>
      </p:sp>
      <p:sp>
        <p:nvSpPr>
          <p:cNvPr id="11" name="Text 9"/>
          <p:cNvSpPr/>
          <p:nvPr/>
        </p:nvSpPr>
        <p:spPr>
          <a:xfrm>
            <a:off x="3383280" y="4251960"/>
            <a:ext cx="237744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Invisible in Jira GUI</a:t>
            </a:r>
            <a:endParaRPr lang="en-US" sz="1100" dirty="0"/>
          </a:p>
        </p:txBody>
      </p:sp>
      <p:sp>
        <p:nvSpPr>
          <p:cNvPr id="12" name="Shape 10"/>
          <p:cNvSpPr/>
          <p:nvPr/>
        </p:nvSpPr>
        <p:spPr>
          <a:xfrm>
            <a:off x="6126480" y="4251960"/>
            <a:ext cx="2377440" cy="411480"/>
          </a:xfrm>
          <a:prstGeom prst="roundRect">
            <a:avLst>
              <a:gd name="adj" fmla="val 11111"/>
            </a:avLst>
          </a:prstGeom>
          <a:solidFill>
            <a:srgbClr val="D97706">
              <a:alpha val="20000"/>
            </a:srgbClr>
          </a:solidFill>
          <a:ln w="12700">
            <a:solidFill>
              <a:srgbClr val="D97706">
                <a:alpha val="50000"/>
              </a:srgbClr>
            </a:solidFill>
            <a:prstDash val="solid"/>
          </a:ln>
        </p:spPr>
      </p:sp>
      <p:sp>
        <p:nvSpPr>
          <p:cNvPr id="13" name="Text 11"/>
          <p:cNvSpPr/>
          <p:nvPr/>
        </p:nvSpPr>
        <p:spPr>
          <a:xfrm>
            <a:off x="6126480" y="4251960"/>
            <a:ext cx="237744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Queryable by Epic / PI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3A5F"/>
          </a:solidFill>
          <a:ln w="12700">
            <a:solidFill>
              <a:srgbClr val="1E3A5F"/>
            </a:solidFill>
            <a:prstDash val="solid"/>
          </a:ln>
        </p:spPr>
      </p:sp>
      <p:sp>
        <p:nvSpPr>
          <p:cNvPr id="3" name="Text 1"/>
          <p:cNvSpPr/>
          <p:nvPr/>
        </p:nvSpPr>
        <p:spPr>
          <a:xfrm>
            <a:off x="274320" y="0"/>
            <a:ext cx="548640" cy="685800"/>
          </a:xfrm>
          <a:prstGeom prst="rect">
            <a:avLst/>
          </a:prstGeom>
          <a:noFill/>
          <a:ln/>
        </p:spPr>
        <p:txBody>
          <a:bodyPr wrap="square" rtlCol="0" anchor="ctr"/>
          <a:lstStyle/>
          <a:p>
            <a:pPr indent="0" marL="0">
              <a:buNone/>
            </a:pPr>
            <a:r>
              <a:rPr lang="en-US" sz="1100" b="1" dirty="0">
                <a:solidFill>
                  <a:srgbClr val="818CF8"/>
                </a:solidFill>
                <a:latin typeface="Calibri" pitchFamily="34" charset="0"/>
                <a:ea typeface="Calibri" pitchFamily="34" charset="-122"/>
                <a:cs typeface="Calibri" pitchFamily="34" charset="-120"/>
              </a:rPr>
              <a:t>01</a:t>
            </a:r>
            <a:endParaRPr lang="en-US" sz="1100" dirty="0"/>
          </a:p>
        </p:txBody>
      </p:sp>
      <p:sp>
        <p:nvSpPr>
          <p:cNvPr id="4" name="Text 2"/>
          <p:cNvSpPr/>
          <p:nvPr/>
        </p:nvSpPr>
        <p:spPr>
          <a:xfrm>
            <a:off x="777240" y="0"/>
            <a:ext cx="8229600" cy="685800"/>
          </a:xfrm>
          <a:prstGeom prst="rect">
            <a:avLst/>
          </a:prstGeom>
          <a:noFill/>
          <a:ln/>
        </p:spPr>
        <p:txBody>
          <a:bodyPr wrap="square"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SYSTEM ARCHITECTURE</a:t>
            </a:r>
            <a:endParaRPr lang="en-US" sz="1300" dirty="0"/>
          </a:p>
        </p:txBody>
      </p:sp>
      <p:sp>
        <p:nvSpPr>
          <p:cNvPr id="5" name="Shape 3"/>
          <p:cNvSpPr/>
          <p:nvPr/>
        </p:nvSpPr>
        <p:spPr>
          <a:xfrm>
            <a:off x="182880" y="777240"/>
            <a:ext cx="2103120" cy="347472"/>
          </a:xfrm>
          <a:prstGeom prst="roundRect">
            <a:avLst>
              <a:gd name="adj" fmla="val 13158"/>
            </a:avLst>
          </a:prstGeom>
          <a:solidFill>
            <a:srgbClr val="EEF2FF"/>
          </a:solidFill>
          <a:ln w="12700">
            <a:solidFill>
              <a:srgbClr val="4F46E5">
                <a:alpha val="50000"/>
              </a:srgbClr>
            </a:solidFill>
            <a:prstDash val="solid"/>
          </a:ln>
        </p:spPr>
      </p:sp>
      <p:sp>
        <p:nvSpPr>
          <p:cNvPr id="6" name="Text 4"/>
          <p:cNvSpPr/>
          <p:nvPr/>
        </p:nvSpPr>
        <p:spPr>
          <a:xfrm>
            <a:off x="182880" y="777240"/>
            <a:ext cx="2103120" cy="347472"/>
          </a:xfrm>
          <a:prstGeom prst="rect">
            <a:avLst/>
          </a:prstGeom>
          <a:noFill/>
          <a:ln/>
        </p:spPr>
        <p:txBody>
          <a:bodyPr wrap="square" rtlCol="0" anchor="ctr"/>
          <a:lstStyle/>
          <a:p>
            <a:pPr algn="ctr" indent="0" marL="0">
              <a:buNone/>
            </a:pPr>
            <a:r>
              <a:rPr lang="en-US" sz="1000" b="1" dirty="0">
                <a:solidFill>
                  <a:srgbClr val="4F46E5"/>
                </a:solidFill>
                <a:latin typeface="Calibri" pitchFamily="34" charset="0"/>
                <a:ea typeface="Calibri" pitchFamily="34" charset="-122"/>
                <a:cs typeface="Calibri" pitchFamily="34" charset="-120"/>
              </a:rPr>
              <a:t>Action Sources</a:t>
            </a:r>
            <a:endParaRPr lang="en-US" sz="1000" dirty="0"/>
          </a:p>
        </p:txBody>
      </p:sp>
      <p:sp>
        <p:nvSpPr>
          <p:cNvPr id="7" name="Shape 5"/>
          <p:cNvSpPr/>
          <p:nvPr/>
        </p:nvSpPr>
        <p:spPr>
          <a:xfrm>
            <a:off x="2514600" y="777240"/>
            <a:ext cx="2103120" cy="347472"/>
          </a:xfrm>
          <a:prstGeom prst="roundRect">
            <a:avLst>
              <a:gd name="adj" fmla="val 13158"/>
            </a:avLst>
          </a:prstGeom>
          <a:solidFill>
            <a:srgbClr val="EFF6FF"/>
          </a:solidFill>
          <a:ln w="12700">
            <a:solidFill>
              <a:srgbClr val="2563EB">
                <a:alpha val="50000"/>
              </a:srgbClr>
            </a:solidFill>
            <a:prstDash val="solid"/>
          </a:ln>
        </p:spPr>
      </p:sp>
      <p:sp>
        <p:nvSpPr>
          <p:cNvPr id="8" name="Text 6"/>
          <p:cNvSpPr/>
          <p:nvPr/>
        </p:nvSpPr>
        <p:spPr>
          <a:xfrm>
            <a:off x="2514600" y="777240"/>
            <a:ext cx="2103120" cy="347472"/>
          </a:xfrm>
          <a:prstGeom prst="rect">
            <a:avLst/>
          </a:prstGeom>
          <a:noFill/>
          <a:ln/>
        </p:spPr>
        <p:txBody>
          <a:bodyPr wrap="square" rtlCol="0" anchor="ctr"/>
          <a:lstStyle/>
          <a:p>
            <a:pPr algn="ctr" indent="0" marL="0">
              <a:buNone/>
            </a:pPr>
            <a:r>
              <a:rPr lang="en-US" sz="1000" b="1" dirty="0">
                <a:solidFill>
                  <a:srgbClr val="2563EB"/>
                </a:solidFill>
                <a:latin typeface="Calibri" pitchFamily="34" charset="0"/>
                <a:ea typeface="Calibri" pitchFamily="34" charset="-122"/>
                <a:cs typeface="Calibri" pitchFamily="34" charset="-120"/>
              </a:rPr>
              <a:t>Jira Platform</a:t>
            </a:r>
            <a:endParaRPr lang="en-US" sz="1000" dirty="0"/>
          </a:p>
        </p:txBody>
      </p:sp>
      <p:sp>
        <p:nvSpPr>
          <p:cNvPr id="9" name="Shape 7"/>
          <p:cNvSpPr/>
          <p:nvPr/>
        </p:nvSpPr>
        <p:spPr>
          <a:xfrm>
            <a:off x="4846320" y="777240"/>
            <a:ext cx="2103120" cy="347472"/>
          </a:xfrm>
          <a:prstGeom prst="roundRect">
            <a:avLst>
              <a:gd name="adj" fmla="val 13158"/>
            </a:avLst>
          </a:prstGeom>
          <a:solidFill>
            <a:srgbClr val="FDF4FF"/>
          </a:solidFill>
          <a:ln w="12700">
            <a:solidFill>
              <a:srgbClr val="7C3AED">
                <a:alpha val="50000"/>
              </a:srgbClr>
            </a:solidFill>
            <a:prstDash val="solid"/>
          </a:ln>
        </p:spPr>
      </p:sp>
      <p:sp>
        <p:nvSpPr>
          <p:cNvPr id="10" name="Text 8"/>
          <p:cNvSpPr/>
          <p:nvPr/>
        </p:nvSpPr>
        <p:spPr>
          <a:xfrm>
            <a:off x="4846320" y="777240"/>
            <a:ext cx="2103120" cy="347472"/>
          </a:xfrm>
          <a:prstGeom prst="rect">
            <a:avLst/>
          </a:prstGeom>
          <a:noFill/>
          <a:ln/>
        </p:spPr>
        <p:txBody>
          <a:bodyPr wrap="square" rtlCol="0" anchor="ctr"/>
          <a:lstStyle/>
          <a:p>
            <a:pPr algn="ctr" indent="0" marL="0">
              <a:buNone/>
            </a:pPr>
            <a:r>
              <a:rPr lang="en-US" sz="1000" b="1" dirty="0">
                <a:solidFill>
                  <a:srgbClr val="7C3AED"/>
                </a:solidFill>
                <a:latin typeface="Calibri" pitchFamily="34" charset="0"/>
                <a:ea typeface="Calibri" pitchFamily="34" charset="-122"/>
                <a:cs typeface="Calibri" pitchFamily="34" charset="-120"/>
              </a:rPr>
              <a:t>Tagging Layer</a:t>
            </a:r>
            <a:endParaRPr lang="en-US" sz="1000" dirty="0"/>
          </a:p>
        </p:txBody>
      </p:sp>
      <p:sp>
        <p:nvSpPr>
          <p:cNvPr id="11" name="Shape 9"/>
          <p:cNvSpPr/>
          <p:nvPr/>
        </p:nvSpPr>
        <p:spPr>
          <a:xfrm>
            <a:off x="7178040" y="777240"/>
            <a:ext cx="2103120" cy="347472"/>
          </a:xfrm>
          <a:prstGeom prst="roundRect">
            <a:avLst>
              <a:gd name="adj" fmla="val 13158"/>
            </a:avLst>
          </a:prstGeom>
          <a:solidFill>
            <a:srgbClr val="FFFBEB"/>
          </a:solidFill>
          <a:ln w="12700">
            <a:solidFill>
              <a:srgbClr val="D97706">
                <a:alpha val="50000"/>
              </a:srgbClr>
            </a:solidFill>
            <a:prstDash val="solid"/>
          </a:ln>
        </p:spPr>
      </p:sp>
      <p:sp>
        <p:nvSpPr>
          <p:cNvPr id="12" name="Text 10"/>
          <p:cNvSpPr/>
          <p:nvPr/>
        </p:nvSpPr>
        <p:spPr>
          <a:xfrm>
            <a:off x="7178040" y="777240"/>
            <a:ext cx="2103120" cy="347472"/>
          </a:xfrm>
          <a:prstGeom prst="rect">
            <a:avLst/>
          </a:prstGeom>
          <a:noFill/>
          <a:ln/>
        </p:spPr>
        <p:txBody>
          <a:bodyPr wrap="square" rtlCol="0" anchor="ctr"/>
          <a:lstStyle/>
          <a:p>
            <a:pPr algn="ctr" indent="0" marL="0">
              <a:buNone/>
            </a:pPr>
            <a:r>
              <a:rPr lang="en-US" sz="1000" b="1" dirty="0">
                <a:solidFill>
                  <a:srgbClr val="D97706"/>
                </a:solidFill>
                <a:latin typeface="Calibri" pitchFamily="34" charset="0"/>
                <a:ea typeface="Calibri" pitchFamily="34" charset="-122"/>
                <a:cs typeface="Calibri" pitchFamily="34" charset="-120"/>
              </a:rPr>
              <a:t>Dashboard</a:t>
            </a:r>
            <a:endParaRPr lang="en-US" sz="1000" dirty="0"/>
          </a:p>
        </p:txBody>
      </p:sp>
      <p:sp>
        <p:nvSpPr>
          <p:cNvPr id="13" name="Shape 11"/>
          <p:cNvSpPr/>
          <p:nvPr/>
        </p:nvSpPr>
        <p:spPr>
          <a:xfrm>
            <a:off x="182880" y="1207008"/>
            <a:ext cx="2103120" cy="1143000"/>
          </a:xfrm>
          <a:prstGeom prst="roundRect">
            <a:avLst>
              <a:gd name="adj" fmla="val 6400"/>
            </a:avLst>
          </a:prstGeom>
          <a:solidFill>
            <a:srgbClr val="EEF2FF"/>
          </a:solidFill>
          <a:ln w="15240">
            <a:solidFill>
              <a:srgbClr val="4F46E5">
                <a:alpha val="60000"/>
              </a:srgbClr>
            </a:solidFill>
            <a:prstDash val="solid"/>
          </a:ln>
          <a:effectLst>
            <a:outerShdw sx="100000" sy="100000" kx="0" ky="0" algn="bl" rotWithShape="0" blurRad="63500" dist="25400" dir="2700000">
              <a:srgbClr val="000000">
                <a:alpha val="8000"/>
              </a:srgbClr>
            </a:outerShdw>
          </a:effectLst>
        </p:spPr>
      </p:sp>
      <p:pic>
        <p:nvPicPr>
          <p:cNvPr id="14" name="Image 0" descr="preencoded.png">    </p:cNvPr>
          <p:cNvPicPr>
            <a:picLocks noChangeAspect="1"/>
          </p:cNvPicPr>
          <p:nvPr/>
        </p:nvPicPr>
        <p:blipFill>
          <a:blip r:embed="rId1"/>
          <a:stretch>
            <a:fillRect/>
          </a:stretch>
        </p:blipFill>
        <p:spPr>
          <a:xfrm>
            <a:off x="292608" y="1316736"/>
            <a:ext cx="274320" cy="274320"/>
          </a:xfrm>
          <a:prstGeom prst="rect">
            <a:avLst/>
          </a:prstGeom>
        </p:spPr>
      </p:pic>
      <p:sp>
        <p:nvSpPr>
          <p:cNvPr id="15" name="Text 12"/>
          <p:cNvSpPr/>
          <p:nvPr/>
        </p:nvSpPr>
        <p:spPr>
          <a:xfrm>
            <a:off x="621792" y="1298448"/>
            <a:ext cx="160020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MCP AI Agent</a:t>
            </a:r>
            <a:endParaRPr lang="en-US" sz="1100" dirty="0"/>
          </a:p>
        </p:txBody>
      </p:sp>
      <p:sp>
        <p:nvSpPr>
          <p:cNvPr id="16" name="Text 13"/>
          <p:cNvSpPr/>
          <p:nvPr/>
        </p:nvSpPr>
        <p:spPr>
          <a:xfrm>
            <a:off x="292608" y="1591056"/>
            <a:ext cx="1920240" cy="548640"/>
          </a:xfrm>
          <a:prstGeom prst="rect">
            <a:avLst/>
          </a:prstGeom>
          <a:noFill/>
          <a:ln/>
        </p:spPr>
        <p:txBody>
          <a:bodyPr wrap="square" rtlCol="0" anchor="ctr"/>
          <a:lstStyle/>
          <a:p>
            <a:pPr indent="0" marL="0">
              <a:lnSpc>
                <a:spcPct val="120000"/>
              </a:lnSpc>
              <a:buNone/>
            </a:pPr>
            <a:r>
              <a:rPr lang="en-US" sz="950" dirty="0">
                <a:solidFill>
                  <a:srgbClr val="475569"/>
                </a:solidFill>
                <a:latin typeface="Calibri" pitchFamily="34" charset="0"/>
                <a:ea typeface="Calibri" pitchFamily="34" charset="-122"/>
                <a:cs typeface="Calibri" pitchFamily="34" charset="-120"/>
              </a:rPr>
              <a:t>Claude / AI tool performing Jira actions programmatically via API</a:t>
            </a:r>
            <a:endParaRPr lang="en-US" sz="950" dirty="0"/>
          </a:p>
        </p:txBody>
      </p:sp>
      <p:sp>
        <p:nvSpPr>
          <p:cNvPr id="17" name="Shape 14"/>
          <p:cNvSpPr/>
          <p:nvPr/>
        </p:nvSpPr>
        <p:spPr>
          <a:xfrm>
            <a:off x="292608" y="2075688"/>
            <a:ext cx="1883664" cy="201168"/>
          </a:xfrm>
          <a:prstGeom prst="roundRect">
            <a:avLst>
              <a:gd name="adj" fmla="val 18182"/>
            </a:avLst>
          </a:prstGeom>
          <a:solidFill>
            <a:srgbClr val="E0E7FF"/>
          </a:solidFill>
          <a:ln w="12700">
            <a:solidFill>
              <a:srgbClr val="4F46E5">
                <a:alpha val="40000"/>
              </a:srgbClr>
            </a:solidFill>
            <a:prstDash val="solid"/>
          </a:ln>
        </p:spPr>
      </p:sp>
      <p:sp>
        <p:nvSpPr>
          <p:cNvPr id="18" name="Text 15"/>
          <p:cNvSpPr/>
          <p:nvPr/>
        </p:nvSpPr>
        <p:spPr>
          <a:xfrm>
            <a:off x="292608" y="2075688"/>
            <a:ext cx="1883664" cy="201168"/>
          </a:xfrm>
          <a:prstGeom prst="rect">
            <a:avLst/>
          </a:prstGeom>
          <a:noFill/>
          <a:ln/>
        </p:spPr>
        <p:txBody>
          <a:bodyPr wrap="square" rtlCol="0" anchor="ctr"/>
          <a:lstStyle/>
          <a:p>
            <a:pPr algn="ctr" indent="0" marL="0">
              <a:buNone/>
            </a:pPr>
            <a:r>
              <a:rPr lang="en-US" sz="850" b="1" dirty="0">
                <a:solidFill>
                  <a:srgbClr val="4F46E5"/>
                </a:solidFill>
                <a:latin typeface="Calibri" pitchFamily="34" charset="0"/>
                <a:ea typeface="Calibri" pitchFamily="34" charset="-122"/>
                <a:cs typeface="Calibri" pitchFamily="34" charset="-120"/>
              </a:rPr>
              <a:t>Source: AI_MCP</a:t>
            </a:r>
            <a:endParaRPr lang="en-US" sz="850" dirty="0"/>
          </a:p>
        </p:txBody>
      </p:sp>
      <p:sp>
        <p:nvSpPr>
          <p:cNvPr id="19" name="Shape 16"/>
          <p:cNvSpPr/>
          <p:nvPr/>
        </p:nvSpPr>
        <p:spPr>
          <a:xfrm>
            <a:off x="182880" y="2450592"/>
            <a:ext cx="2103120" cy="1143000"/>
          </a:xfrm>
          <a:prstGeom prst="roundRect">
            <a:avLst>
              <a:gd name="adj" fmla="val 6400"/>
            </a:avLst>
          </a:prstGeom>
          <a:solidFill>
            <a:srgbClr val="ECFDF5"/>
          </a:solidFill>
          <a:ln w="15240">
            <a:solidFill>
              <a:srgbClr val="059669">
                <a:alpha val="60000"/>
              </a:srgbClr>
            </a:solidFill>
            <a:prstDash val="solid"/>
          </a:ln>
          <a:effectLst>
            <a:outerShdw sx="100000" sy="100000" kx="0" ky="0" algn="bl" rotWithShape="0" blurRad="63500" dist="25400" dir="2700000">
              <a:srgbClr val="000000">
                <a:alpha val="8000"/>
              </a:srgbClr>
            </a:outerShdw>
          </a:effectLst>
        </p:spPr>
      </p:sp>
      <p:pic>
        <p:nvPicPr>
          <p:cNvPr id="20" name="Image 1" descr="preencoded.png">    </p:cNvPr>
          <p:cNvPicPr>
            <a:picLocks noChangeAspect="1"/>
          </p:cNvPicPr>
          <p:nvPr/>
        </p:nvPicPr>
        <p:blipFill>
          <a:blip r:embed="rId2"/>
          <a:stretch>
            <a:fillRect/>
          </a:stretch>
        </p:blipFill>
        <p:spPr>
          <a:xfrm>
            <a:off x="292608" y="2560320"/>
            <a:ext cx="274320" cy="274320"/>
          </a:xfrm>
          <a:prstGeom prst="rect">
            <a:avLst/>
          </a:prstGeom>
        </p:spPr>
      </p:pic>
      <p:sp>
        <p:nvSpPr>
          <p:cNvPr id="21" name="Text 17"/>
          <p:cNvSpPr/>
          <p:nvPr/>
        </p:nvSpPr>
        <p:spPr>
          <a:xfrm>
            <a:off x="621792" y="2542032"/>
            <a:ext cx="160020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Human User</a:t>
            </a:r>
            <a:endParaRPr lang="en-US" sz="1100" dirty="0"/>
          </a:p>
        </p:txBody>
      </p:sp>
      <p:sp>
        <p:nvSpPr>
          <p:cNvPr id="22" name="Text 18"/>
          <p:cNvSpPr/>
          <p:nvPr/>
        </p:nvSpPr>
        <p:spPr>
          <a:xfrm>
            <a:off x="292608" y="2834640"/>
            <a:ext cx="1920240" cy="548640"/>
          </a:xfrm>
          <a:prstGeom prst="rect">
            <a:avLst/>
          </a:prstGeom>
          <a:noFill/>
          <a:ln/>
        </p:spPr>
        <p:txBody>
          <a:bodyPr wrap="square" rtlCol="0" anchor="ctr"/>
          <a:lstStyle/>
          <a:p>
            <a:pPr indent="0" marL="0">
              <a:lnSpc>
                <a:spcPct val="120000"/>
              </a:lnSpc>
              <a:buNone/>
            </a:pPr>
            <a:r>
              <a:rPr lang="en-US" sz="950" dirty="0">
                <a:solidFill>
                  <a:srgbClr val="475569"/>
                </a:solidFill>
                <a:latin typeface="Calibri" pitchFamily="34" charset="0"/>
                <a:ea typeface="Calibri" pitchFamily="34" charset="-122"/>
                <a:cs typeface="Calibri" pitchFamily="34" charset="-120"/>
              </a:rPr>
              <a:t>Developer / PM acting through the Jira browser UI directly</a:t>
            </a:r>
            <a:endParaRPr lang="en-US" sz="950" dirty="0"/>
          </a:p>
        </p:txBody>
      </p:sp>
      <p:sp>
        <p:nvSpPr>
          <p:cNvPr id="23" name="Shape 19"/>
          <p:cNvSpPr/>
          <p:nvPr/>
        </p:nvSpPr>
        <p:spPr>
          <a:xfrm>
            <a:off x="292608" y="3319272"/>
            <a:ext cx="1883664" cy="201168"/>
          </a:xfrm>
          <a:prstGeom prst="roundRect">
            <a:avLst>
              <a:gd name="adj" fmla="val 18182"/>
            </a:avLst>
          </a:prstGeom>
          <a:solidFill>
            <a:srgbClr val="D1FAE5"/>
          </a:solidFill>
          <a:ln w="12700">
            <a:solidFill>
              <a:srgbClr val="059669">
                <a:alpha val="40000"/>
              </a:srgbClr>
            </a:solidFill>
            <a:prstDash val="solid"/>
          </a:ln>
        </p:spPr>
      </p:sp>
      <p:sp>
        <p:nvSpPr>
          <p:cNvPr id="24" name="Text 20"/>
          <p:cNvSpPr/>
          <p:nvPr/>
        </p:nvSpPr>
        <p:spPr>
          <a:xfrm>
            <a:off x="292608" y="3319272"/>
            <a:ext cx="1883664" cy="201168"/>
          </a:xfrm>
          <a:prstGeom prst="rect">
            <a:avLst/>
          </a:prstGeom>
          <a:noFill/>
          <a:ln/>
        </p:spPr>
        <p:txBody>
          <a:bodyPr wrap="square" rtlCol="0" anchor="ctr"/>
          <a:lstStyle/>
          <a:p>
            <a:pPr algn="ctr" indent="0" marL="0">
              <a:buNone/>
            </a:pPr>
            <a:r>
              <a:rPr lang="en-US" sz="850" b="1" dirty="0">
                <a:solidFill>
                  <a:srgbClr val="059669"/>
                </a:solidFill>
                <a:latin typeface="Calibri" pitchFamily="34" charset="0"/>
                <a:ea typeface="Calibri" pitchFamily="34" charset="-122"/>
                <a:cs typeface="Calibri" pitchFamily="34" charset="-120"/>
              </a:rPr>
              <a:t>Source: HUMAN</a:t>
            </a:r>
            <a:endParaRPr lang="en-US" sz="850" dirty="0"/>
          </a:p>
        </p:txBody>
      </p:sp>
      <p:sp>
        <p:nvSpPr>
          <p:cNvPr id="25" name="Shape 21"/>
          <p:cNvSpPr/>
          <p:nvPr/>
        </p:nvSpPr>
        <p:spPr>
          <a:xfrm>
            <a:off x="2286000" y="1755648"/>
            <a:ext cx="228600" cy="0"/>
          </a:xfrm>
          <a:prstGeom prst="line">
            <a:avLst/>
          </a:prstGeom>
          <a:noFill/>
          <a:ln w="19050">
            <a:solidFill>
              <a:srgbClr val="4F46E5"/>
            </a:solidFill>
            <a:prstDash val="solid"/>
          </a:ln>
        </p:spPr>
      </p:sp>
      <p:sp>
        <p:nvSpPr>
          <p:cNvPr id="26" name="Shape 22"/>
          <p:cNvSpPr/>
          <p:nvPr/>
        </p:nvSpPr>
        <p:spPr>
          <a:xfrm>
            <a:off x="2286000" y="2999232"/>
            <a:ext cx="228600" cy="0"/>
          </a:xfrm>
          <a:prstGeom prst="line">
            <a:avLst/>
          </a:prstGeom>
          <a:noFill/>
          <a:ln w="19050">
            <a:solidFill>
              <a:srgbClr val="059669"/>
            </a:solidFill>
            <a:prstDash val="solid"/>
          </a:ln>
        </p:spPr>
      </p:sp>
      <p:sp>
        <p:nvSpPr>
          <p:cNvPr id="27" name="Shape 23"/>
          <p:cNvSpPr/>
          <p:nvPr/>
        </p:nvSpPr>
        <p:spPr>
          <a:xfrm>
            <a:off x="2514600" y="1207008"/>
            <a:ext cx="2103120" cy="914400"/>
          </a:xfrm>
          <a:prstGeom prst="roundRect">
            <a:avLst>
              <a:gd name="adj" fmla="val 8000"/>
            </a:avLst>
          </a:prstGeom>
          <a:solidFill>
            <a:srgbClr val="EFF6FF"/>
          </a:solidFill>
          <a:ln w="15240">
            <a:solidFill>
              <a:srgbClr val="2563EB">
                <a:alpha val="60000"/>
              </a:srgbClr>
            </a:solidFill>
            <a:prstDash val="solid"/>
          </a:ln>
          <a:effectLst>
            <a:outerShdw sx="100000" sy="100000" kx="0" ky="0" algn="bl" rotWithShape="0" blurRad="63500" dist="25400" dir="2700000">
              <a:srgbClr val="000000">
                <a:alpha val="8000"/>
              </a:srgbClr>
            </a:outerShdw>
          </a:effectLst>
        </p:spPr>
      </p:sp>
      <p:pic>
        <p:nvPicPr>
          <p:cNvPr id="28" name="Image 2" descr="preencoded.png">    </p:cNvPr>
          <p:cNvPicPr>
            <a:picLocks noChangeAspect="1"/>
          </p:cNvPicPr>
          <p:nvPr/>
        </p:nvPicPr>
        <p:blipFill>
          <a:blip r:embed="rId3"/>
          <a:stretch>
            <a:fillRect/>
          </a:stretch>
        </p:blipFill>
        <p:spPr>
          <a:xfrm>
            <a:off x="2624328" y="1316736"/>
            <a:ext cx="274320" cy="274320"/>
          </a:xfrm>
          <a:prstGeom prst="rect">
            <a:avLst/>
          </a:prstGeom>
        </p:spPr>
      </p:pic>
      <p:sp>
        <p:nvSpPr>
          <p:cNvPr id="29" name="Text 24"/>
          <p:cNvSpPr/>
          <p:nvPr/>
        </p:nvSpPr>
        <p:spPr>
          <a:xfrm>
            <a:off x="2953512" y="1298448"/>
            <a:ext cx="160020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Jira Issues</a:t>
            </a:r>
            <a:endParaRPr lang="en-US" sz="1100" dirty="0"/>
          </a:p>
        </p:txBody>
      </p:sp>
      <p:sp>
        <p:nvSpPr>
          <p:cNvPr id="30" name="Text 25"/>
          <p:cNvSpPr/>
          <p:nvPr/>
        </p:nvSpPr>
        <p:spPr>
          <a:xfrm>
            <a:off x="2624328" y="1591056"/>
            <a:ext cx="1920240" cy="320040"/>
          </a:xfrm>
          <a:prstGeom prst="rect">
            <a:avLst/>
          </a:prstGeom>
          <a:noFill/>
          <a:ln/>
        </p:spPr>
        <p:txBody>
          <a:bodyPr wrap="square" rtlCol="0" anchor="ctr"/>
          <a:lstStyle/>
          <a:p>
            <a:pPr indent="0" marL="0">
              <a:lnSpc>
                <a:spcPct val="120000"/>
              </a:lnSpc>
              <a:buNone/>
            </a:pPr>
            <a:r>
              <a:rPr lang="en-US" sz="950" dirty="0">
                <a:solidFill>
                  <a:srgbClr val="475569"/>
                </a:solidFill>
                <a:latin typeface="Calibri" pitchFamily="34" charset="0"/>
                <a:ea typeface="Calibri" pitchFamily="34" charset="-122"/>
                <a:cs typeface="Calibri" pitchFamily="34" charset="-120"/>
              </a:rPr>
              <a:t>Tickets, Epics, Stories, Bugs — all activity happens here</a:t>
            </a:r>
            <a:endParaRPr lang="en-US" sz="950" dirty="0"/>
          </a:p>
        </p:txBody>
      </p:sp>
      <p:sp>
        <p:nvSpPr>
          <p:cNvPr id="31" name="Shape 26"/>
          <p:cNvSpPr/>
          <p:nvPr/>
        </p:nvSpPr>
        <p:spPr>
          <a:xfrm>
            <a:off x="2624328" y="1847088"/>
            <a:ext cx="1883664" cy="201168"/>
          </a:xfrm>
          <a:prstGeom prst="roundRect">
            <a:avLst>
              <a:gd name="adj" fmla="val 18182"/>
            </a:avLst>
          </a:prstGeom>
          <a:solidFill>
            <a:srgbClr val="DBEAFE"/>
          </a:solidFill>
          <a:ln w="12700">
            <a:solidFill>
              <a:srgbClr val="2563EB">
                <a:alpha val="40000"/>
              </a:srgbClr>
            </a:solidFill>
            <a:prstDash val="solid"/>
          </a:ln>
        </p:spPr>
      </p:sp>
      <p:sp>
        <p:nvSpPr>
          <p:cNvPr id="32" name="Text 27"/>
          <p:cNvSpPr/>
          <p:nvPr/>
        </p:nvSpPr>
        <p:spPr>
          <a:xfrm>
            <a:off x="2624328" y="1847088"/>
            <a:ext cx="1883664" cy="201168"/>
          </a:xfrm>
          <a:prstGeom prst="rect">
            <a:avLst/>
          </a:prstGeom>
          <a:noFill/>
          <a:ln/>
        </p:spPr>
        <p:txBody>
          <a:bodyPr wrap="square" rtlCol="0" anchor="ctr"/>
          <a:lstStyle/>
          <a:p>
            <a:pPr algn="ctr" indent="0" marL="0">
              <a:buNone/>
            </a:pPr>
            <a:r>
              <a:rPr lang="en-US" sz="850" b="1" dirty="0">
                <a:solidFill>
                  <a:srgbClr val="2563EB"/>
                </a:solidFill>
                <a:latin typeface="Calibri" pitchFamily="34" charset="0"/>
                <a:ea typeface="Calibri" pitchFamily="34" charset="-122"/>
                <a:cs typeface="Calibri" pitchFamily="34" charset="-120"/>
              </a:rPr>
              <a:t>REST API v2</a:t>
            </a:r>
            <a:endParaRPr lang="en-US" sz="850" dirty="0"/>
          </a:p>
        </p:txBody>
      </p:sp>
      <p:sp>
        <p:nvSpPr>
          <p:cNvPr id="33" name="Shape 28"/>
          <p:cNvSpPr/>
          <p:nvPr/>
        </p:nvSpPr>
        <p:spPr>
          <a:xfrm>
            <a:off x="2514600" y="2212848"/>
            <a:ext cx="2103120" cy="777240"/>
          </a:xfrm>
          <a:prstGeom prst="roundRect">
            <a:avLst>
              <a:gd name="adj" fmla="val 9412"/>
            </a:avLst>
          </a:prstGeom>
          <a:solidFill>
            <a:srgbClr val="EFF6FF"/>
          </a:solidFill>
          <a:ln w="15240">
            <a:solidFill>
              <a:srgbClr val="2563EB">
                <a:alpha val="60000"/>
              </a:srgbClr>
            </a:solidFill>
            <a:prstDash val="solid"/>
          </a:ln>
          <a:effectLst>
            <a:outerShdw sx="100000" sy="100000" kx="0" ky="0" algn="bl" rotWithShape="0" blurRad="63500" dist="25400" dir="2700000">
              <a:srgbClr val="000000">
                <a:alpha val="8000"/>
              </a:srgbClr>
            </a:outerShdw>
          </a:effectLst>
        </p:spPr>
      </p:sp>
      <p:pic>
        <p:nvPicPr>
          <p:cNvPr id="34" name="Image 3" descr="preencoded.png">    </p:cNvPr>
          <p:cNvPicPr>
            <a:picLocks noChangeAspect="1"/>
          </p:cNvPicPr>
          <p:nvPr/>
        </p:nvPicPr>
        <p:blipFill>
          <a:blip r:embed="rId4"/>
          <a:stretch>
            <a:fillRect/>
          </a:stretch>
        </p:blipFill>
        <p:spPr>
          <a:xfrm>
            <a:off x="2624328" y="2322576"/>
            <a:ext cx="274320" cy="274320"/>
          </a:xfrm>
          <a:prstGeom prst="rect">
            <a:avLst/>
          </a:prstGeom>
        </p:spPr>
      </p:pic>
      <p:sp>
        <p:nvSpPr>
          <p:cNvPr id="35" name="Text 29"/>
          <p:cNvSpPr/>
          <p:nvPr/>
        </p:nvSpPr>
        <p:spPr>
          <a:xfrm>
            <a:off x="2953512" y="2304288"/>
            <a:ext cx="160020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Worklog API</a:t>
            </a:r>
            <a:endParaRPr lang="en-US" sz="1100" dirty="0"/>
          </a:p>
        </p:txBody>
      </p:sp>
      <p:sp>
        <p:nvSpPr>
          <p:cNvPr id="36" name="Text 30"/>
          <p:cNvSpPr/>
          <p:nvPr/>
        </p:nvSpPr>
        <p:spPr>
          <a:xfrm>
            <a:off x="2624328" y="2596896"/>
            <a:ext cx="1920240" cy="182880"/>
          </a:xfrm>
          <a:prstGeom prst="rect">
            <a:avLst/>
          </a:prstGeom>
          <a:noFill/>
          <a:ln/>
        </p:spPr>
        <p:txBody>
          <a:bodyPr wrap="square" rtlCol="0" anchor="ctr"/>
          <a:lstStyle/>
          <a:p>
            <a:pPr indent="0" marL="0">
              <a:lnSpc>
                <a:spcPct val="120000"/>
              </a:lnSpc>
              <a:buNone/>
            </a:pPr>
            <a:r>
              <a:rPr lang="en-US" sz="950" dirty="0">
                <a:solidFill>
                  <a:srgbClr val="475569"/>
                </a:solidFill>
                <a:latin typeface="Calibri" pitchFamily="34" charset="0"/>
                <a:ea typeface="Calibri" pitchFamily="34" charset="-122"/>
                <a:cs typeface="Calibri" pitchFamily="34" charset="-120"/>
              </a:rPr>
              <a:t>Stores source tag silently as entity property — invisible in GUI</a:t>
            </a:r>
            <a:endParaRPr lang="en-US" sz="950" dirty="0"/>
          </a:p>
        </p:txBody>
      </p:sp>
      <p:sp>
        <p:nvSpPr>
          <p:cNvPr id="37" name="Shape 31"/>
          <p:cNvSpPr/>
          <p:nvPr/>
        </p:nvSpPr>
        <p:spPr>
          <a:xfrm>
            <a:off x="2624328" y="2715768"/>
            <a:ext cx="1883664" cy="201168"/>
          </a:xfrm>
          <a:prstGeom prst="roundRect">
            <a:avLst>
              <a:gd name="adj" fmla="val 18182"/>
            </a:avLst>
          </a:prstGeom>
          <a:solidFill>
            <a:srgbClr val="DBEAFE"/>
          </a:solidFill>
          <a:ln w="12700">
            <a:solidFill>
              <a:srgbClr val="2563EB">
                <a:alpha val="40000"/>
              </a:srgbClr>
            </a:solidFill>
            <a:prstDash val="solid"/>
          </a:ln>
        </p:spPr>
      </p:sp>
      <p:sp>
        <p:nvSpPr>
          <p:cNvPr id="38" name="Text 32"/>
          <p:cNvSpPr/>
          <p:nvPr/>
        </p:nvSpPr>
        <p:spPr>
          <a:xfrm>
            <a:off x="2624328" y="2715768"/>
            <a:ext cx="1883664" cy="201168"/>
          </a:xfrm>
          <a:prstGeom prst="rect">
            <a:avLst/>
          </a:prstGeom>
          <a:noFill/>
          <a:ln/>
        </p:spPr>
        <p:txBody>
          <a:bodyPr wrap="square" rtlCol="0" anchor="ctr"/>
          <a:lstStyle/>
          <a:p>
            <a:pPr algn="ctr" indent="0" marL="0">
              <a:buNone/>
            </a:pPr>
            <a:r>
              <a:rPr lang="en-US" sz="850" b="1" dirty="0">
                <a:solidFill>
                  <a:srgbClr val="2563EB"/>
                </a:solidFill>
                <a:latin typeface="Calibri" pitchFamily="34" charset="0"/>
                <a:ea typeface="Calibri" pitchFamily="34" charset="-122"/>
                <a:cs typeface="Calibri" pitchFamily="34" charset="-120"/>
              </a:rPr>
              <a:t>Entity Properties</a:t>
            </a:r>
            <a:endParaRPr lang="en-US" sz="850" dirty="0"/>
          </a:p>
        </p:txBody>
      </p:sp>
      <p:sp>
        <p:nvSpPr>
          <p:cNvPr id="39" name="Shape 33"/>
          <p:cNvSpPr/>
          <p:nvPr/>
        </p:nvSpPr>
        <p:spPr>
          <a:xfrm>
            <a:off x="2514600" y="3081528"/>
            <a:ext cx="2103120" cy="777240"/>
          </a:xfrm>
          <a:prstGeom prst="roundRect">
            <a:avLst>
              <a:gd name="adj" fmla="val 9412"/>
            </a:avLst>
          </a:prstGeom>
          <a:solidFill>
            <a:srgbClr val="FDF4FF"/>
          </a:solidFill>
          <a:ln w="15240">
            <a:solidFill>
              <a:srgbClr val="7C3AED">
                <a:alpha val="60000"/>
              </a:srgbClr>
            </a:solidFill>
            <a:prstDash val="solid"/>
          </a:ln>
          <a:effectLst>
            <a:outerShdw sx="100000" sy="100000" kx="0" ky="0" algn="bl" rotWithShape="0" blurRad="63500" dist="25400" dir="2700000">
              <a:srgbClr val="000000">
                <a:alpha val="8000"/>
              </a:srgbClr>
            </a:outerShdw>
          </a:effectLst>
        </p:spPr>
      </p:sp>
      <p:pic>
        <p:nvPicPr>
          <p:cNvPr id="40" name="Image 4" descr="preencoded.png">    </p:cNvPr>
          <p:cNvPicPr>
            <a:picLocks noChangeAspect="1"/>
          </p:cNvPicPr>
          <p:nvPr/>
        </p:nvPicPr>
        <p:blipFill>
          <a:blip r:embed="rId5"/>
          <a:stretch>
            <a:fillRect/>
          </a:stretch>
        </p:blipFill>
        <p:spPr>
          <a:xfrm>
            <a:off x="2624328" y="3191256"/>
            <a:ext cx="274320" cy="274320"/>
          </a:xfrm>
          <a:prstGeom prst="rect">
            <a:avLst/>
          </a:prstGeom>
        </p:spPr>
      </p:pic>
      <p:sp>
        <p:nvSpPr>
          <p:cNvPr id="41" name="Text 34"/>
          <p:cNvSpPr/>
          <p:nvPr/>
        </p:nvSpPr>
        <p:spPr>
          <a:xfrm>
            <a:off x="2953512" y="3172968"/>
            <a:ext cx="160020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Jira Webhook</a:t>
            </a:r>
            <a:endParaRPr lang="en-US" sz="1100" dirty="0"/>
          </a:p>
        </p:txBody>
      </p:sp>
      <p:sp>
        <p:nvSpPr>
          <p:cNvPr id="42" name="Text 35"/>
          <p:cNvSpPr/>
          <p:nvPr/>
        </p:nvSpPr>
        <p:spPr>
          <a:xfrm>
            <a:off x="2624328" y="3465576"/>
            <a:ext cx="1920240" cy="182880"/>
          </a:xfrm>
          <a:prstGeom prst="rect">
            <a:avLst/>
          </a:prstGeom>
          <a:noFill/>
          <a:ln/>
        </p:spPr>
        <p:txBody>
          <a:bodyPr wrap="square" rtlCol="0" anchor="ctr"/>
          <a:lstStyle/>
          <a:p>
            <a:pPr indent="0" marL="0">
              <a:lnSpc>
                <a:spcPct val="120000"/>
              </a:lnSpc>
              <a:buNone/>
            </a:pPr>
            <a:r>
              <a:rPr lang="en-US" sz="950" dirty="0">
                <a:solidFill>
                  <a:srgbClr val="475569"/>
                </a:solidFill>
                <a:latin typeface="Calibri" pitchFamily="34" charset="0"/>
                <a:ea typeface="Calibri" pitchFamily="34" charset="-122"/>
                <a:cs typeface="Calibri" pitchFamily="34" charset="-120"/>
              </a:rPr>
              <a:t>Fires on every human GUI action — notifies your listener</a:t>
            </a:r>
            <a:endParaRPr lang="en-US" sz="950" dirty="0"/>
          </a:p>
        </p:txBody>
      </p:sp>
      <p:sp>
        <p:nvSpPr>
          <p:cNvPr id="43" name="Shape 36"/>
          <p:cNvSpPr/>
          <p:nvPr/>
        </p:nvSpPr>
        <p:spPr>
          <a:xfrm>
            <a:off x="2624328" y="3584448"/>
            <a:ext cx="1883664" cy="201168"/>
          </a:xfrm>
          <a:prstGeom prst="roundRect">
            <a:avLst>
              <a:gd name="adj" fmla="val 18182"/>
            </a:avLst>
          </a:prstGeom>
          <a:solidFill>
            <a:srgbClr val="EDE9FE"/>
          </a:solidFill>
          <a:ln w="12700">
            <a:solidFill>
              <a:srgbClr val="7C3AED">
                <a:alpha val="40000"/>
              </a:srgbClr>
            </a:solidFill>
            <a:prstDash val="solid"/>
          </a:ln>
        </p:spPr>
      </p:sp>
      <p:sp>
        <p:nvSpPr>
          <p:cNvPr id="44" name="Text 37"/>
          <p:cNvSpPr/>
          <p:nvPr/>
        </p:nvSpPr>
        <p:spPr>
          <a:xfrm>
            <a:off x="2624328" y="3584448"/>
            <a:ext cx="1883664" cy="201168"/>
          </a:xfrm>
          <a:prstGeom prst="rect">
            <a:avLst/>
          </a:prstGeom>
          <a:noFill/>
          <a:ln/>
        </p:spPr>
        <p:txBody>
          <a:bodyPr wrap="square" rtlCol="0" anchor="ctr"/>
          <a:lstStyle/>
          <a:p>
            <a:pPr algn="ctr" indent="0" marL="0">
              <a:buNone/>
            </a:pPr>
            <a:r>
              <a:rPr lang="en-US" sz="850" b="1" dirty="0">
                <a:solidFill>
                  <a:srgbClr val="7C3AED"/>
                </a:solidFill>
                <a:latin typeface="Calibri" pitchFamily="34" charset="0"/>
                <a:ea typeface="Calibri" pitchFamily="34" charset="-122"/>
                <a:cs typeface="Calibri" pitchFamily="34" charset="-120"/>
              </a:rPr>
              <a:t>Event Trigger</a:t>
            </a:r>
            <a:endParaRPr lang="en-US" sz="850" dirty="0"/>
          </a:p>
        </p:txBody>
      </p:sp>
      <p:sp>
        <p:nvSpPr>
          <p:cNvPr id="45" name="Shape 38"/>
          <p:cNvSpPr/>
          <p:nvPr/>
        </p:nvSpPr>
        <p:spPr>
          <a:xfrm>
            <a:off x="4617720" y="1920240"/>
            <a:ext cx="228600" cy="0"/>
          </a:xfrm>
          <a:prstGeom prst="line">
            <a:avLst/>
          </a:prstGeom>
          <a:noFill/>
          <a:ln w="19050">
            <a:solidFill>
              <a:srgbClr val="2563EB"/>
            </a:solidFill>
            <a:prstDash val="solid"/>
          </a:ln>
        </p:spPr>
      </p:sp>
      <p:sp>
        <p:nvSpPr>
          <p:cNvPr id="46" name="Shape 39"/>
          <p:cNvSpPr/>
          <p:nvPr/>
        </p:nvSpPr>
        <p:spPr>
          <a:xfrm>
            <a:off x="4617720" y="3291840"/>
            <a:ext cx="228600" cy="0"/>
          </a:xfrm>
          <a:prstGeom prst="line">
            <a:avLst/>
          </a:prstGeom>
          <a:noFill/>
          <a:ln w="19050">
            <a:solidFill>
              <a:srgbClr val="7C3AED"/>
            </a:solidFill>
            <a:prstDash val="dash"/>
          </a:ln>
        </p:spPr>
      </p:sp>
      <p:sp>
        <p:nvSpPr>
          <p:cNvPr id="47" name="Shape 40"/>
          <p:cNvSpPr/>
          <p:nvPr/>
        </p:nvSpPr>
        <p:spPr>
          <a:xfrm>
            <a:off x="4846320" y="1207008"/>
            <a:ext cx="2103120" cy="1097280"/>
          </a:xfrm>
          <a:prstGeom prst="roundRect">
            <a:avLst>
              <a:gd name="adj" fmla="val 6667"/>
            </a:avLst>
          </a:prstGeom>
          <a:solidFill>
            <a:srgbClr val="EEF2FF"/>
          </a:solidFill>
          <a:ln w="15240">
            <a:solidFill>
              <a:srgbClr val="4F46E5">
                <a:alpha val="60000"/>
              </a:srgbClr>
            </a:solidFill>
            <a:prstDash val="solid"/>
          </a:ln>
          <a:effectLst>
            <a:outerShdw sx="100000" sy="100000" kx="0" ky="0" algn="bl" rotWithShape="0" blurRad="63500" dist="25400" dir="2700000">
              <a:srgbClr val="000000">
                <a:alpha val="8000"/>
              </a:srgbClr>
            </a:outerShdw>
          </a:effectLst>
        </p:spPr>
      </p:sp>
      <p:pic>
        <p:nvPicPr>
          <p:cNvPr id="48" name="Image 5" descr="preencoded.png">    </p:cNvPr>
          <p:cNvPicPr>
            <a:picLocks noChangeAspect="1"/>
          </p:cNvPicPr>
          <p:nvPr/>
        </p:nvPicPr>
        <p:blipFill>
          <a:blip r:embed="rId6"/>
          <a:stretch>
            <a:fillRect/>
          </a:stretch>
        </p:blipFill>
        <p:spPr>
          <a:xfrm>
            <a:off x="4956048" y="1316736"/>
            <a:ext cx="274320" cy="274320"/>
          </a:xfrm>
          <a:prstGeom prst="rect">
            <a:avLst/>
          </a:prstGeom>
        </p:spPr>
      </p:pic>
      <p:sp>
        <p:nvSpPr>
          <p:cNvPr id="49" name="Text 41"/>
          <p:cNvSpPr/>
          <p:nvPr/>
        </p:nvSpPr>
        <p:spPr>
          <a:xfrm>
            <a:off x="5285232" y="1298448"/>
            <a:ext cx="160020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MCP Auto-Tagger</a:t>
            </a:r>
            <a:endParaRPr lang="en-US" sz="1100" dirty="0"/>
          </a:p>
        </p:txBody>
      </p:sp>
      <p:sp>
        <p:nvSpPr>
          <p:cNvPr id="50" name="Text 42"/>
          <p:cNvSpPr/>
          <p:nvPr/>
        </p:nvSpPr>
        <p:spPr>
          <a:xfrm>
            <a:off x="4956048" y="1591056"/>
            <a:ext cx="1920240" cy="502920"/>
          </a:xfrm>
          <a:prstGeom prst="rect">
            <a:avLst/>
          </a:prstGeom>
          <a:noFill/>
          <a:ln/>
        </p:spPr>
        <p:txBody>
          <a:bodyPr wrap="square" rtlCol="0" anchor="ctr"/>
          <a:lstStyle/>
          <a:p>
            <a:pPr indent="0" marL="0">
              <a:lnSpc>
                <a:spcPct val="120000"/>
              </a:lnSpc>
              <a:buNone/>
            </a:pPr>
            <a:r>
              <a:rPr lang="en-US" sz="950" dirty="0">
                <a:solidFill>
                  <a:srgbClr val="475569"/>
                </a:solidFill>
                <a:latin typeface="Calibri" pitchFamily="34" charset="0"/>
                <a:ea typeface="Calibri" pitchFamily="34" charset="-122"/>
                <a:cs typeface="Calibri" pitchFamily="34" charset="-120"/>
              </a:rPr>
              <a:t>After every MCP action, writes source: AI_MCP to worklog property immediately</a:t>
            </a:r>
            <a:endParaRPr lang="en-US" sz="950" dirty="0"/>
          </a:p>
        </p:txBody>
      </p:sp>
      <p:sp>
        <p:nvSpPr>
          <p:cNvPr id="51" name="Shape 43"/>
          <p:cNvSpPr/>
          <p:nvPr/>
        </p:nvSpPr>
        <p:spPr>
          <a:xfrm>
            <a:off x="4956048" y="2029968"/>
            <a:ext cx="1883664" cy="201168"/>
          </a:xfrm>
          <a:prstGeom prst="roundRect">
            <a:avLst>
              <a:gd name="adj" fmla="val 18182"/>
            </a:avLst>
          </a:prstGeom>
          <a:solidFill>
            <a:srgbClr val="E0E7FF"/>
          </a:solidFill>
          <a:ln w="12700">
            <a:solidFill>
              <a:srgbClr val="4F46E5">
                <a:alpha val="40000"/>
              </a:srgbClr>
            </a:solidFill>
            <a:prstDash val="solid"/>
          </a:ln>
        </p:spPr>
      </p:sp>
      <p:sp>
        <p:nvSpPr>
          <p:cNvPr id="52" name="Text 44"/>
          <p:cNvSpPr/>
          <p:nvPr/>
        </p:nvSpPr>
        <p:spPr>
          <a:xfrm>
            <a:off x="4956048" y="2029968"/>
            <a:ext cx="1883664" cy="201168"/>
          </a:xfrm>
          <a:prstGeom prst="rect">
            <a:avLst/>
          </a:prstGeom>
          <a:noFill/>
          <a:ln/>
        </p:spPr>
        <p:txBody>
          <a:bodyPr wrap="square" rtlCol="0" anchor="ctr"/>
          <a:lstStyle/>
          <a:p>
            <a:pPr algn="ctr" indent="0" marL="0">
              <a:buNone/>
            </a:pPr>
            <a:r>
              <a:rPr lang="en-US" sz="850" b="1" dirty="0">
                <a:solidFill>
                  <a:srgbClr val="4F46E5"/>
                </a:solidFill>
                <a:latin typeface="Calibri" pitchFamily="34" charset="0"/>
                <a:ea typeface="Calibri" pitchFamily="34" charset="-122"/>
                <a:cs typeface="Calibri" pitchFamily="34" charset="-120"/>
              </a:rPr>
              <a:t>Hardcoded: AI_MCP</a:t>
            </a:r>
            <a:endParaRPr lang="en-US" sz="850" dirty="0"/>
          </a:p>
        </p:txBody>
      </p:sp>
      <p:sp>
        <p:nvSpPr>
          <p:cNvPr id="53" name="Shape 45"/>
          <p:cNvSpPr/>
          <p:nvPr/>
        </p:nvSpPr>
        <p:spPr>
          <a:xfrm>
            <a:off x="4846320" y="2395728"/>
            <a:ext cx="2103120" cy="1097280"/>
          </a:xfrm>
          <a:prstGeom prst="roundRect">
            <a:avLst>
              <a:gd name="adj" fmla="val 6667"/>
            </a:avLst>
          </a:prstGeom>
          <a:solidFill>
            <a:srgbClr val="FDF4FF"/>
          </a:solidFill>
          <a:ln w="15240">
            <a:solidFill>
              <a:srgbClr val="7C3AED">
                <a:alpha val="60000"/>
              </a:srgbClr>
            </a:solidFill>
            <a:prstDash val="solid"/>
          </a:ln>
          <a:effectLst>
            <a:outerShdw sx="100000" sy="100000" kx="0" ky="0" algn="bl" rotWithShape="0" blurRad="63500" dist="25400" dir="2700000">
              <a:srgbClr val="000000">
                <a:alpha val="8000"/>
              </a:srgbClr>
            </a:outerShdw>
          </a:effectLst>
        </p:spPr>
      </p:sp>
      <p:pic>
        <p:nvPicPr>
          <p:cNvPr id="54" name="Image 6" descr="preencoded.png">    </p:cNvPr>
          <p:cNvPicPr>
            <a:picLocks noChangeAspect="1"/>
          </p:cNvPicPr>
          <p:nvPr/>
        </p:nvPicPr>
        <p:blipFill>
          <a:blip r:embed="rId7"/>
          <a:stretch>
            <a:fillRect/>
          </a:stretch>
        </p:blipFill>
        <p:spPr>
          <a:xfrm>
            <a:off x="4956048" y="2505456"/>
            <a:ext cx="274320" cy="274320"/>
          </a:xfrm>
          <a:prstGeom prst="rect">
            <a:avLst/>
          </a:prstGeom>
        </p:spPr>
      </p:pic>
      <p:sp>
        <p:nvSpPr>
          <p:cNvPr id="55" name="Text 46"/>
          <p:cNvSpPr/>
          <p:nvPr/>
        </p:nvSpPr>
        <p:spPr>
          <a:xfrm>
            <a:off x="5285232" y="2487168"/>
            <a:ext cx="160020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Webhook Listener Server</a:t>
            </a:r>
            <a:endParaRPr lang="en-US" sz="1100" dirty="0"/>
          </a:p>
        </p:txBody>
      </p:sp>
      <p:sp>
        <p:nvSpPr>
          <p:cNvPr id="56" name="Text 47"/>
          <p:cNvSpPr/>
          <p:nvPr/>
        </p:nvSpPr>
        <p:spPr>
          <a:xfrm>
            <a:off x="4956048" y="2779776"/>
            <a:ext cx="1920240" cy="502920"/>
          </a:xfrm>
          <a:prstGeom prst="rect">
            <a:avLst/>
          </a:prstGeom>
          <a:noFill/>
          <a:ln/>
        </p:spPr>
        <p:txBody>
          <a:bodyPr wrap="square" rtlCol="0" anchor="ctr"/>
          <a:lstStyle/>
          <a:p>
            <a:pPr indent="0" marL="0">
              <a:lnSpc>
                <a:spcPct val="120000"/>
              </a:lnSpc>
              <a:buNone/>
            </a:pPr>
            <a:r>
              <a:rPr lang="en-US" sz="950" dirty="0">
                <a:solidFill>
                  <a:srgbClr val="475569"/>
                </a:solidFill>
                <a:latin typeface="Calibri" pitchFamily="34" charset="0"/>
                <a:ea typeface="Calibri" pitchFamily="34" charset="-122"/>
                <a:cs typeface="Calibri" pitchFamily="34" charset="-120"/>
              </a:rPr>
              <a:t>Receives Jira events, checks if actor ≠ bot, writes source: HUMAN to worklog</a:t>
            </a:r>
            <a:endParaRPr lang="en-US" sz="950" dirty="0"/>
          </a:p>
        </p:txBody>
      </p:sp>
      <p:sp>
        <p:nvSpPr>
          <p:cNvPr id="57" name="Shape 48"/>
          <p:cNvSpPr/>
          <p:nvPr/>
        </p:nvSpPr>
        <p:spPr>
          <a:xfrm>
            <a:off x="4956048" y="3218688"/>
            <a:ext cx="1883664" cy="201168"/>
          </a:xfrm>
          <a:prstGeom prst="roundRect">
            <a:avLst>
              <a:gd name="adj" fmla="val 18182"/>
            </a:avLst>
          </a:prstGeom>
          <a:solidFill>
            <a:srgbClr val="EDE9FE"/>
          </a:solidFill>
          <a:ln w="12700">
            <a:solidFill>
              <a:srgbClr val="7C3AED">
                <a:alpha val="40000"/>
              </a:srgbClr>
            </a:solidFill>
            <a:prstDash val="solid"/>
          </a:ln>
        </p:spPr>
      </p:sp>
      <p:sp>
        <p:nvSpPr>
          <p:cNvPr id="58" name="Text 49"/>
          <p:cNvSpPr/>
          <p:nvPr/>
        </p:nvSpPr>
        <p:spPr>
          <a:xfrm>
            <a:off x="4956048" y="3218688"/>
            <a:ext cx="1883664" cy="201168"/>
          </a:xfrm>
          <a:prstGeom prst="rect">
            <a:avLst/>
          </a:prstGeom>
          <a:noFill/>
          <a:ln/>
        </p:spPr>
        <p:txBody>
          <a:bodyPr wrap="square" rtlCol="0" anchor="ctr"/>
          <a:lstStyle/>
          <a:p>
            <a:pPr algn="ctr" indent="0" marL="0">
              <a:buNone/>
            </a:pPr>
            <a:r>
              <a:rPr lang="en-US" sz="850" b="1" dirty="0">
                <a:solidFill>
                  <a:srgbClr val="7C3AED"/>
                </a:solidFill>
                <a:latin typeface="Calibri" pitchFamily="34" charset="0"/>
                <a:ea typeface="Calibri" pitchFamily="34" charset="-122"/>
                <a:cs typeface="Calibri" pitchFamily="34" charset="-120"/>
              </a:rPr>
              <a:t>Hardcoded: HUMAN</a:t>
            </a:r>
            <a:endParaRPr lang="en-US" sz="850" dirty="0"/>
          </a:p>
        </p:txBody>
      </p:sp>
      <p:sp>
        <p:nvSpPr>
          <p:cNvPr id="59" name="Shape 50"/>
          <p:cNvSpPr/>
          <p:nvPr/>
        </p:nvSpPr>
        <p:spPr>
          <a:xfrm>
            <a:off x="6949440" y="1920240"/>
            <a:ext cx="228600" cy="0"/>
          </a:xfrm>
          <a:prstGeom prst="line">
            <a:avLst/>
          </a:prstGeom>
          <a:noFill/>
          <a:ln w="19050">
            <a:solidFill>
              <a:srgbClr val="94A3B8"/>
            </a:solidFill>
            <a:prstDash val="solid"/>
          </a:ln>
        </p:spPr>
      </p:sp>
      <p:sp>
        <p:nvSpPr>
          <p:cNvPr id="60" name="Shape 51"/>
          <p:cNvSpPr/>
          <p:nvPr/>
        </p:nvSpPr>
        <p:spPr>
          <a:xfrm>
            <a:off x="6949440" y="2834640"/>
            <a:ext cx="228600" cy="0"/>
          </a:xfrm>
          <a:prstGeom prst="line">
            <a:avLst/>
          </a:prstGeom>
          <a:noFill/>
          <a:ln w="19050">
            <a:solidFill>
              <a:srgbClr val="94A3B8"/>
            </a:solidFill>
            <a:prstDash val="solid"/>
          </a:ln>
        </p:spPr>
      </p:sp>
      <p:sp>
        <p:nvSpPr>
          <p:cNvPr id="61" name="Shape 52"/>
          <p:cNvSpPr/>
          <p:nvPr/>
        </p:nvSpPr>
        <p:spPr>
          <a:xfrm>
            <a:off x="7178040" y="1207008"/>
            <a:ext cx="1828800" cy="914400"/>
          </a:xfrm>
          <a:prstGeom prst="roundRect">
            <a:avLst>
              <a:gd name="adj" fmla="val 8000"/>
            </a:avLst>
          </a:prstGeom>
          <a:solidFill>
            <a:srgbClr val="FFFBEB"/>
          </a:solidFill>
          <a:ln w="15240">
            <a:solidFill>
              <a:srgbClr val="D97706">
                <a:alpha val="60000"/>
              </a:srgbClr>
            </a:solidFill>
            <a:prstDash val="solid"/>
          </a:ln>
          <a:effectLst>
            <a:outerShdw sx="100000" sy="100000" kx="0" ky="0" algn="bl" rotWithShape="0" blurRad="63500" dist="25400" dir="2700000">
              <a:srgbClr val="000000">
                <a:alpha val="8000"/>
              </a:srgbClr>
            </a:outerShdw>
          </a:effectLst>
        </p:spPr>
      </p:sp>
      <p:pic>
        <p:nvPicPr>
          <p:cNvPr id="62" name="Image 7" descr="preencoded.png">    </p:cNvPr>
          <p:cNvPicPr>
            <a:picLocks noChangeAspect="1"/>
          </p:cNvPicPr>
          <p:nvPr/>
        </p:nvPicPr>
        <p:blipFill>
          <a:blip r:embed="rId8"/>
          <a:stretch>
            <a:fillRect/>
          </a:stretch>
        </p:blipFill>
        <p:spPr>
          <a:xfrm>
            <a:off x="7287768" y="1316736"/>
            <a:ext cx="274320" cy="274320"/>
          </a:xfrm>
          <a:prstGeom prst="rect">
            <a:avLst/>
          </a:prstGeom>
        </p:spPr>
      </p:pic>
      <p:sp>
        <p:nvSpPr>
          <p:cNvPr id="63" name="Text 53"/>
          <p:cNvSpPr/>
          <p:nvPr/>
        </p:nvSpPr>
        <p:spPr>
          <a:xfrm>
            <a:off x="7616952" y="1298448"/>
            <a:ext cx="132588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Analytics Dashboard</a:t>
            </a:r>
            <a:endParaRPr lang="en-US" sz="1100" dirty="0"/>
          </a:p>
        </p:txBody>
      </p:sp>
      <p:sp>
        <p:nvSpPr>
          <p:cNvPr id="64" name="Text 54"/>
          <p:cNvSpPr/>
          <p:nvPr/>
        </p:nvSpPr>
        <p:spPr>
          <a:xfrm>
            <a:off x="7287768" y="1591056"/>
            <a:ext cx="1645920" cy="320040"/>
          </a:xfrm>
          <a:prstGeom prst="rect">
            <a:avLst/>
          </a:prstGeom>
          <a:noFill/>
          <a:ln/>
        </p:spPr>
        <p:txBody>
          <a:bodyPr wrap="square" rtlCol="0" anchor="ctr"/>
          <a:lstStyle/>
          <a:p>
            <a:pPr indent="0" marL="0">
              <a:lnSpc>
                <a:spcPct val="120000"/>
              </a:lnSpc>
              <a:buNone/>
            </a:pPr>
            <a:r>
              <a:rPr lang="en-US" sz="950" dirty="0">
                <a:solidFill>
                  <a:srgbClr val="475569"/>
                </a:solidFill>
                <a:latin typeface="Calibri" pitchFamily="34" charset="0"/>
                <a:ea typeface="Calibri" pitchFamily="34" charset="-122"/>
                <a:cs typeface="Calibri" pitchFamily="34" charset="-120"/>
              </a:rPr>
              <a:t>AI vs Human activity breakdown, counts, trends per Epic / PI</a:t>
            </a:r>
            <a:endParaRPr lang="en-US" sz="950" dirty="0"/>
          </a:p>
        </p:txBody>
      </p:sp>
      <p:sp>
        <p:nvSpPr>
          <p:cNvPr id="65" name="Shape 55"/>
          <p:cNvSpPr/>
          <p:nvPr/>
        </p:nvSpPr>
        <p:spPr>
          <a:xfrm>
            <a:off x="7287768" y="1847088"/>
            <a:ext cx="1609344" cy="201168"/>
          </a:xfrm>
          <a:prstGeom prst="roundRect">
            <a:avLst>
              <a:gd name="adj" fmla="val 18182"/>
            </a:avLst>
          </a:prstGeom>
          <a:solidFill>
            <a:srgbClr val="FEF3C7"/>
          </a:solidFill>
          <a:ln w="12700">
            <a:solidFill>
              <a:srgbClr val="D97706">
                <a:alpha val="40000"/>
              </a:srgbClr>
            </a:solidFill>
            <a:prstDash val="solid"/>
          </a:ln>
        </p:spPr>
      </p:sp>
      <p:sp>
        <p:nvSpPr>
          <p:cNvPr id="66" name="Text 56"/>
          <p:cNvSpPr/>
          <p:nvPr/>
        </p:nvSpPr>
        <p:spPr>
          <a:xfrm>
            <a:off x="7287768" y="1847088"/>
            <a:ext cx="1609344" cy="201168"/>
          </a:xfrm>
          <a:prstGeom prst="rect">
            <a:avLst/>
          </a:prstGeom>
          <a:noFill/>
          <a:ln/>
        </p:spPr>
        <p:txBody>
          <a:bodyPr wrap="square" rtlCol="0" anchor="ctr"/>
          <a:lstStyle/>
          <a:p>
            <a:pPr algn="ctr" indent="0" marL="0">
              <a:buNone/>
            </a:pPr>
            <a:r>
              <a:rPr lang="en-US" sz="850" b="1" dirty="0">
                <a:solidFill>
                  <a:srgbClr val="D97706"/>
                </a:solidFill>
                <a:latin typeface="Calibri" pitchFamily="34" charset="0"/>
                <a:ea typeface="Calibri" pitchFamily="34" charset="-122"/>
                <a:cs typeface="Calibri" pitchFamily="34" charset="-120"/>
              </a:rPr>
              <a:t>Management View</a:t>
            </a:r>
            <a:endParaRPr lang="en-US" sz="850" dirty="0"/>
          </a:p>
        </p:txBody>
      </p:sp>
      <p:sp>
        <p:nvSpPr>
          <p:cNvPr id="67" name="Shape 57"/>
          <p:cNvSpPr/>
          <p:nvPr/>
        </p:nvSpPr>
        <p:spPr>
          <a:xfrm>
            <a:off x="7178040" y="2212848"/>
            <a:ext cx="1828800" cy="777240"/>
          </a:xfrm>
          <a:prstGeom prst="roundRect">
            <a:avLst>
              <a:gd name="adj" fmla="val 9412"/>
            </a:avLst>
          </a:prstGeom>
          <a:solidFill>
            <a:srgbClr val="FFFBEB"/>
          </a:solidFill>
          <a:ln w="15240">
            <a:solidFill>
              <a:srgbClr val="D97706">
                <a:alpha val="60000"/>
              </a:srgbClr>
            </a:solidFill>
            <a:prstDash val="solid"/>
          </a:ln>
          <a:effectLst>
            <a:outerShdw sx="100000" sy="100000" kx="0" ky="0" algn="bl" rotWithShape="0" blurRad="63500" dist="25400" dir="2700000">
              <a:srgbClr val="000000">
                <a:alpha val="8000"/>
              </a:srgbClr>
            </a:outerShdw>
          </a:effectLst>
        </p:spPr>
      </p:sp>
      <p:pic>
        <p:nvPicPr>
          <p:cNvPr id="68" name="Image 8" descr="preencoded.png">    </p:cNvPr>
          <p:cNvPicPr>
            <a:picLocks noChangeAspect="1"/>
          </p:cNvPicPr>
          <p:nvPr/>
        </p:nvPicPr>
        <p:blipFill>
          <a:blip r:embed="rId9"/>
          <a:stretch>
            <a:fillRect/>
          </a:stretch>
        </p:blipFill>
        <p:spPr>
          <a:xfrm>
            <a:off x="7287768" y="2322576"/>
            <a:ext cx="274320" cy="274320"/>
          </a:xfrm>
          <a:prstGeom prst="rect">
            <a:avLst/>
          </a:prstGeom>
        </p:spPr>
      </p:pic>
      <p:sp>
        <p:nvSpPr>
          <p:cNvPr id="69" name="Text 58"/>
          <p:cNvSpPr/>
          <p:nvPr/>
        </p:nvSpPr>
        <p:spPr>
          <a:xfrm>
            <a:off x="7616952" y="2304288"/>
            <a:ext cx="132588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Query Engine</a:t>
            </a:r>
            <a:endParaRPr lang="en-US" sz="1100" dirty="0"/>
          </a:p>
        </p:txBody>
      </p:sp>
      <p:sp>
        <p:nvSpPr>
          <p:cNvPr id="70" name="Text 59"/>
          <p:cNvSpPr/>
          <p:nvPr/>
        </p:nvSpPr>
        <p:spPr>
          <a:xfrm>
            <a:off x="7287768" y="2596896"/>
            <a:ext cx="1645920" cy="182880"/>
          </a:xfrm>
          <a:prstGeom prst="rect">
            <a:avLst/>
          </a:prstGeom>
          <a:noFill/>
          <a:ln/>
        </p:spPr>
        <p:txBody>
          <a:bodyPr wrap="square" rtlCol="0" anchor="ctr"/>
          <a:lstStyle/>
          <a:p>
            <a:pPr indent="0" marL="0">
              <a:lnSpc>
                <a:spcPct val="120000"/>
              </a:lnSpc>
              <a:buNone/>
            </a:pPr>
            <a:r>
              <a:rPr lang="en-US" sz="950" dirty="0">
                <a:solidFill>
                  <a:srgbClr val="475569"/>
                </a:solidFill>
                <a:latin typeface="Calibri" pitchFamily="34" charset="0"/>
                <a:ea typeface="Calibri" pitchFamily="34" charset="-122"/>
                <a:cs typeface="Calibri" pitchFamily="34" charset="-120"/>
              </a:rPr>
              <a:t>GET worklog properties, filter by source, group by Epic / PI</a:t>
            </a:r>
            <a:endParaRPr lang="en-US" sz="950" dirty="0"/>
          </a:p>
        </p:txBody>
      </p:sp>
      <p:sp>
        <p:nvSpPr>
          <p:cNvPr id="71" name="Shape 60"/>
          <p:cNvSpPr/>
          <p:nvPr/>
        </p:nvSpPr>
        <p:spPr>
          <a:xfrm>
            <a:off x="7287768" y="2715768"/>
            <a:ext cx="1609344" cy="201168"/>
          </a:xfrm>
          <a:prstGeom prst="roundRect">
            <a:avLst>
              <a:gd name="adj" fmla="val 18182"/>
            </a:avLst>
          </a:prstGeom>
          <a:solidFill>
            <a:srgbClr val="FEF3C7"/>
          </a:solidFill>
          <a:ln w="12700">
            <a:solidFill>
              <a:srgbClr val="D97706">
                <a:alpha val="40000"/>
              </a:srgbClr>
            </a:solidFill>
            <a:prstDash val="solid"/>
          </a:ln>
        </p:spPr>
      </p:sp>
      <p:sp>
        <p:nvSpPr>
          <p:cNvPr id="72" name="Text 61"/>
          <p:cNvSpPr/>
          <p:nvPr/>
        </p:nvSpPr>
        <p:spPr>
          <a:xfrm>
            <a:off x="7287768" y="2715768"/>
            <a:ext cx="1609344" cy="201168"/>
          </a:xfrm>
          <a:prstGeom prst="rect">
            <a:avLst/>
          </a:prstGeom>
          <a:noFill/>
          <a:ln/>
        </p:spPr>
        <p:txBody>
          <a:bodyPr wrap="square" rtlCol="0" anchor="ctr"/>
          <a:lstStyle/>
          <a:p>
            <a:pPr algn="ctr" indent="0" marL="0">
              <a:buNone/>
            </a:pPr>
            <a:r>
              <a:rPr lang="en-US" sz="850" b="1" dirty="0">
                <a:solidFill>
                  <a:srgbClr val="D97706"/>
                </a:solidFill>
                <a:latin typeface="Calibri" pitchFamily="34" charset="0"/>
                <a:ea typeface="Calibri" pitchFamily="34" charset="-122"/>
                <a:cs typeface="Calibri" pitchFamily="34" charset="-120"/>
              </a:rPr>
              <a:t>JQL + REST API</a:t>
            </a:r>
            <a:endParaRPr lang="en-US" sz="850" dirty="0"/>
          </a:p>
        </p:txBody>
      </p:sp>
      <p:sp>
        <p:nvSpPr>
          <p:cNvPr id="73" name="Shape 62"/>
          <p:cNvSpPr/>
          <p:nvPr/>
        </p:nvSpPr>
        <p:spPr>
          <a:xfrm>
            <a:off x="7178040" y="3081528"/>
            <a:ext cx="1828800" cy="777240"/>
          </a:xfrm>
          <a:prstGeom prst="roundRect">
            <a:avLst>
              <a:gd name="adj" fmla="val 9412"/>
            </a:avLst>
          </a:prstGeom>
          <a:solidFill>
            <a:srgbClr val="FFFBEB"/>
          </a:solidFill>
          <a:ln w="15240">
            <a:solidFill>
              <a:srgbClr val="D97706">
                <a:alpha val="60000"/>
              </a:srgbClr>
            </a:solidFill>
            <a:prstDash val="solid"/>
          </a:ln>
          <a:effectLst>
            <a:outerShdw sx="100000" sy="100000" kx="0" ky="0" algn="bl" rotWithShape="0" blurRad="63500" dist="25400" dir="2700000">
              <a:srgbClr val="000000">
                <a:alpha val="8000"/>
              </a:srgbClr>
            </a:outerShdw>
          </a:effectLst>
        </p:spPr>
      </p:sp>
      <p:pic>
        <p:nvPicPr>
          <p:cNvPr id="74" name="Image 9" descr="preencoded.png">    </p:cNvPr>
          <p:cNvPicPr>
            <a:picLocks noChangeAspect="1"/>
          </p:cNvPicPr>
          <p:nvPr/>
        </p:nvPicPr>
        <p:blipFill>
          <a:blip r:embed="rId10"/>
          <a:stretch>
            <a:fillRect/>
          </a:stretch>
        </p:blipFill>
        <p:spPr>
          <a:xfrm>
            <a:off x="7287768" y="3191256"/>
            <a:ext cx="274320" cy="274320"/>
          </a:xfrm>
          <a:prstGeom prst="rect">
            <a:avLst/>
          </a:prstGeom>
        </p:spPr>
      </p:pic>
      <p:sp>
        <p:nvSpPr>
          <p:cNvPr id="75" name="Text 63"/>
          <p:cNvSpPr/>
          <p:nvPr/>
        </p:nvSpPr>
        <p:spPr>
          <a:xfrm>
            <a:off x="7616952" y="3172968"/>
            <a:ext cx="132588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Reports</a:t>
            </a:r>
            <a:endParaRPr lang="en-US" sz="1100" dirty="0"/>
          </a:p>
        </p:txBody>
      </p:sp>
      <p:sp>
        <p:nvSpPr>
          <p:cNvPr id="76" name="Text 64"/>
          <p:cNvSpPr/>
          <p:nvPr/>
        </p:nvSpPr>
        <p:spPr>
          <a:xfrm>
            <a:off x="7287768" y="3465576"/>
            <a:ext cx="1645920" cy="182880"/>
          </a:xfrm>
          <a:prstGeom prst="rect">
            <a:avLst/>
          </a:prstGeom>
          <a:noFill/>
          <a:ln/>
        </p:spPr>
        <p:txBody>
          <a:bodyPr wrap="square" rtlCol="0" anchor="ctr"/>
          <a:lstStyle/>
          <a:p>
            <a:pPr indent="0" marL="0">
              <a:lnSpc>
                <a:spcPct val="120000"/>
              </a:lnSpc>
              <a:buNone/>
            </a:pPr>
            <a:r>
              <a:rPr lang="en-US" sz="950" dirty="0">
                <a:solidFill>
                  <a:srgbClr val="475569"/>
                </a:solidFill>
                <a:latin typeface="Calibri" pitchFamily="34" charset="0"/>
                <a:ea typeface="Calibri" pitchFamily="34" charset="-122"/>
                <a:cs typeface="Calibri" pitchFamily="34" charset="-120"/>
              </a:rPr>
              <a:t>% AI, % Human per Epic, PI, sprint, team member</a:t>
            </a:r>
            <a:endParaRPr lang="en-US" sz="950" dirty="0"/>
          </a:p>
        </p:txBody>
      </p:sp>
      <p:sp>
        <p:nvSpPr>
          <p:cNvPr id="77" name="Shape 65"/>
          <p:cNvSpPr/>
          <p:nvPr/>
        </p:nvSpPr>
        <p:spPr>
          <a:xfrm>
            <a:off x="7287768" y="3584448"/>
            <a:ext cx="1609344" cy="201168"/>
          </a:xfrm>
          <a:prstGeom prst="roundRect">
            <a:avLst>
              <a:gd name="adj" fmla="val 18182"/>
            </a:avLst>
          </a:prstGeom>
          <a:solidFill>
            <a:srgbClr val="FEF3C7"/>
          </a:solidFill>
          <a:ln w="12700">
            <a:solidFill>
              <a:srgbClr val="D97706">
                <a:alpha val="40000"/>
              </a:srgbClr>
            </a:solidFill>
            <a:prstDash val="solid"/>
          </a:ln>
        </p:spPr>
      </p:sp>
      <p:sp>
        <p:nvSpPr>
          <p:cNvPr id="78" name="Text 66"/>
          <p:cNvSpPr/>
          <p:nvPr/>
        </p:nvSpPr>
        <p:spPr>
          <a:xfrm>
            <a:off x="7287768" y="3584448"/>
            <a:ext cx="1609344" cy="201168"/>
          </a:xfrm>
          <a:prstGeom prst="rect">
            <a:avLst/>
          </a:prstGeom>
          <a:noFill/>
          <a:ln/>
        </p:spPr>
        <p:txBody>
          <a:bodyPr wrap="square" rtlCol="0" anchor="ctr"/>
          <a:lstStyle/>
          <a:p>
            <a:pPr algn="ctr" indent="0" marL="0">
              <a:buNone/>
            </a:pPr>
            <a:r>
              <a:rPr lang="en-US" sz="850" b="1" dirty="0">
                <a:solidFill>
                  <a:srgbClr val="D97706"/>
                </a:solidFill>
                <a:latin typeface="Calibri" pitchFamily="34" charset="0"/>
                <a:ea typeface="Calibri" pitchFamily="34" charset="-122"/>
                <a:cs typeface="Calibri" pitchFamily="34" charset="-120"/>
              </a:rPr>
              <a:t>Exportable</a:t>
            </a:r>
            <a:endParaRPr lang="en-US" sz="850" dirty="0"/>
          </a:p>
        </p:txBody>
      </p:sp>
      <p:sp>
        <p:nvSpPr>
          <p:cNvPr id="79" name="Text 67"/>
          <p:cNvSpPr/>
          <p:nvPr/>
        </p:nvSpPr>
        <p:spPr>
          <a:xfrm>
            <a:off x="182880" y="4617720"/>
            <a:ext cx="8778240" cy="274320"/>
          </a:xfrm>
          <a:prstGeom prst="rect">
            <a:avLst/>
          </a:prstGeom>
          <a:noFill/>
          <a:ln/>
        </p:spPr>
        <p:txBody>
          <a:bodyPr wrap="square" rtlCol="0" anchor="ctr"/>
          <a:lstStyle/>
          <a:p>
            <a:pPr algn="ctr" indent="0" marL="0">
              <a:buNone/>
            </a:pPr>
            <a:r>
              <a:rPr lang="en-US" sz="900" i="1" dirty="0">
                <a:solidFill>
                  <a:srgbClr val="94A3B8"/>
                </a:solidFill>
                <a:latin typeface="Calibri" pitchFamily="34" charset="0"/>
                <a:ea typeface="Calibri" pitchFamily="34" charset="-122"/>
                <a:cs typeface="Calibri" pitchFamily="34" charset="-120"/>
              </a:rPr>
              <a:t>All components use existing Jira REST API v2 — no plugins, no schema changes, no new APIs required</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3A5F"/>
          </a:solidFill>
          <a:ln w="12700">
            <a:solidFill>
              <a:srgbClr val="1E3A5F"/>
            </a:solidFill>
            <a:prstDash val="solid"/>
          </a:ln>
        </p:spPr>
      </p:sp>
      <p:sp>
        <p:nvSpPr>
          <p:cNvPr id="3" name="Text 1"/>
          <p:cNvSpPr/>
          <p:nvPr/>
        </p:nvSpPr>
        <p:spPr>
          <a:xfrm>
            <a:off x="274320" y="0"/>
            <a:ext cx="548640" cy="685800"/>
          </a:xfrm>
          <a:prstGeom prst="rect">
            <a:avLst/>
          </a:prstGeom>
          <a:noFill/>
          <a:ln/>
        </p:spPr>
        <p:txBody>
          <a:bodyPr wrap="square" rtlCol="0" anchor="ctr"/>
          <a:lstStyle/>
          <a:p>
            <a:pPr indent="0" marL="0">
              <a:buNone/>
            </a:pPr>
            <a:r>
              <a:rPr lang="en-US" sz="1100" b="1" dirty="0">
                <a:solidFill>
                  <a:srgbClr val="818CF8"/>
                </a:solidFill>
                <a:latin typeface="Calibri" pitchFamily="34" charset="0"/>
                <a:ea typeface="Calibri" pitchFamily="34" charset="-122"/>
                <a:cs typeface="Calibri" pitchFamily="34" charset="-120"/>
              </a:rPr>
              <a:t>02</a:t>
            </a:r>
            <a:endParaRPr lang="en-US" sz="1100" dirty="0"/>
          </a:p>
        </p:txBody>
      </p:sp>
      <p:sp>
        <p:nvSpPr>
          <p:cNvPr id="4" name="Text 2"/>
          <p:cNvSpPr/>
          <p:nvPr/>
        </p:nvSpPr>
        <p:spPr>
          <a:xfrm>
            <a:off x="777240" y="0"/>
            <a:ext cx="8229600" cy="685800"/>
          </a:xfrm>
          <a:prstGeom prst="rect">
            <a:avLst/>
          </a:prstGeom>
          <a:noFill/>
          <a:ln/>
        </p:spPr>
        <p:txBody>
          <a:bodyPr wrap="square"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STEP-BY-STEP FLOW</a:t>
            </a:r>
            <a:endParaRPr lang="en-US" sz="1300" dirty="0"/>
          </a:p>
        </p:txBody>
      </p:sp>
      <p:sp>
        <p:nvSpPr>
          <p:cNvPr id="5" name="Shape 3"/>
          <p:cNvSpPr/>
          <p:nvPr/>
        </p:nvSpPr>
        <p:spPr>
          <a:xfrm>
            <a:off x="182880" y="804672"/>
            <a:ext cx="4114800" cy="384048"/>
          </a:xfrm>
          <a:prstGeom prst="roundRect">
            <a:avLst>
              <a:gd name="adj" fmla="val 14286"/>
            </a:avLst>
          </a:prstGeom>
          <a:solidFill>
            <a:srgbClr val="EEF2FF"/>
          </a:solidFill>
          <a:ln w="12700">
            <a:solidFill>
              <a:srgbClr val="4F46E5">
                <a:alpha val="60000"/>
              </a:srgbClr>
            </a:solidFill>
            <a:prstDash val="solid"/>
          </a:ln>
        </p:spPr>
      </p:sp>
      <p:pic>
        <p:nvPicPr>
          <p:cNvPr id="6" name="Image 0" descr="preencoded.png">    </p:cNvPr>
          <p:cNvPicPr>
            <a:picLocks noChangeAspect="1"/>
          </p:cNvPicPr>
          <p:nvPr/>
        </p:nvPicPr>
        <p:blipFill>
          <a:blip r:embed="rId1"/>
          <a:stretch>
            <a:fillRect/>
          </a:stretch>
        </p:blipFill>
        <p:spPr>
          <a:xfrm>
            <a:off x="365760" y="850392"/>
            <a:ext cx="256032" cy="256032"/>
          </a:xfrm>
          <a:prstGeom prst="rect">
            <a:avLst/>
          </a:prstGeom>
        </p:spPr>
      </p:pic>
      <p:sp>
        <p:nvSpPr>
          <p:cNvPr id="7" name="Text 4"/>
          <p:cNvSpPr/>
          <p:nvPr/>
        </p:nvSpPr>
        <p:spPr>
          <a:xfrm>
            <a:off x="667512" y="804672"/>
            <a:ext cx="3657600" cy="384048"/>
          </a:xfrm>
          <a:prstGeom prst="rect">
            <a:avLst/>
          </a:prstGeom>
          <a:noFill/>
          <a:ln/>
        </p:spPr>
        <p:txBody>
          <a:bodyPr wrap="square" rtlCol="0" anchor="ctr"/>
          <a:lstStyle/>
          <a:p>
            <a:pPr indent="0" marL="0">
              <a:buNone/>
            </a:pPr>
            <a:r>
              <a:rPr lang="en-US" sz="1200" b="1" dirty="0">
                <a:solidFill>
                  <a:srgbClr val="4F46E5"/>
                </a:solidFill>
                <a:latin typeface="Calibri" pitchFamily="34" charset="0"/>
                <a:ea typeface="Calibri" pitchFamily="34" charset="-122"/>
                <a:cs typeface="Calibri" pitchFamily="34" charset="-120"/>
              </a:rPr>
              <a:t>AI / MCP Flow</a:t>
            </a:r>
            <a:endParaRPr lang="en-US" sz="1200" dirty="0"/>
          </a:p>
        </p:txBody>
      </p:sp>
      <p:sp>
        <p:nvSpPr>
          <p:cNvPr id="8" name="Shape 5"/>
          <p:cNvSpPr/>
          <p:nvPr/>
        </p:nvSpPr>
        <p:spPr>
          <a:xfrm>
            <a:off x="4754880" y="804672"/>
            <a:ext cx="4114800" cy="384048"/>
          </a:xfrm>
          <a:prstGeom prst="roundRect">
            <a:avLst>
              <a:gd name="adj" fmla="val 14286"/>
            </a:avLst>
          </a:prstGeom>
          <a:solidFill>
            <a:srgbClr val="ECFDF5"/>
          </a:solidFill>
          <a:ln w="12700">
            <a:solidFill>
              <a:srgbClr val="059669">
                <a:alpha val="60000"/>
              </a:srgbClr>
            </a:solidFill>
            <a:prstDash val="solid"/>
          </a:ln>
        </p:spPr>
      </p:sp>
      <p:pic>
        <p:nvPicPr>
          <p:cNvPr id="9" name="Image 1" descr="preencoded.png">    </p:cNvPr>
          <p:cNvPicPr>
            <a:picLocks noChangeAspect="1"/>
          </p:cNvPicPr>
          <p:nvPr/>
        </p:nvPicPr>
        <p:blipFill>
          <a:blip r:embed="rId2"/>
          <a:stretch>
            <a:fillRect/>
          </a:stretch>
        </p:blipFill>
        <p:spPr>
          <a:xfrm>
            <a:off x="4937760" y="850392"/>
            <a:ext cx="256032" cy="256032"/>
          </a:xfrm>
          <a:prstGeom prst="rect">
            <a:avLst/>
          </a:prstGeom>
        </p:spPr>
      </p:pic>
      <p:sp>
        <p:nvSpPr>
          <p:cNvPr id="10" name="Text 6"/>
          <p:cNvSpPr/>
          <p:nvPr/>
        </p:nvSpPr>
        <p:spPr>
          <a:xfrm>
            <a:off x="5239512" y="804672"/>
            <a:ext cx="3657600" cy="384048"/>
          </a:xfrm>
          <a:prstGeom prst="rect">
            <a:avLst/>
          </a:prstGeom>
          <a:noFill/>
          <a:ln/>
        </p:spPr>
        <p:txBody>
          <a:bodyPr wrap="square" rtlCol="0" anchor="ctr"/>
          <a:lstStyle/>
          <a:p>
            <a:pPr indent="0" marL="0">
              <a:buNone/>
            </a:pPr>
            <a:r>
              <a:rPr lang="en-US" sz="1200" b="1" dirty="0">
                <a:solidFill>
                  <a:srgbClr val="059669"/>
                </a:solidFill>
                <a:latin typeface="Calibri" pitchFamily="34" charset="0"/>
                <a:ea typeface="Calibri" pitchFamily="34" charset="-122"/>
                <a:cs typeface="Calibri" pitchFamily="34" charset="-120"/>
              </a:rPr>
              <a:t>Human / GUI Flow</a:t>
            </a:r>
            <a:endParaRPr lang="en-US" sz="1200" dirty="0"/>
          </a:p>
        </p:txBody>
      </p:sp>
      <p:sp>
        <p:nvSpPr>
          <p:cNvPr id="11" name="Shape 7"/>
          <p:cNvSpPr/>
          <p:nvPr/>
        </p:nvSpPr>
        <p:spPr>
          <a:xfrm>
            <a:off x="182880" y="1298448"/>
            <a:ext cx="347472" cy="347472"/>
          </a:xfrm>
          <a:prstGeom prst="ellipse">
            <a:avLst/>
          </a:prstGeom>
          <a:solidFill>
            <a:srgbClr val="EEF2FF"/>
          </a:solidFill>
          <a:ln w="19050">
            <a:solidFill>
              <a:srgbClr val="4F46E5"/>
            </a:solidFill>
            <a:prstDash val="solid"/>
          </a:ln>
        </p:spPr>
      </p:sp>
      <p:sp>
        <p:nvSpPr>
          <p:cNvPr id="12" name="Text 8"/>
          <p:cNvSpPr/>
          <p:nvPr/>
        </p:nvSpPr>
        <p:spPr>
          <a:xfrm>
            <a:off x="182880" y="1298448"/>
            <a:ext cx="347472" cy="347472"/>
          </a:xfrm>
          <a:prstGeom prst="rect">
            <a:avLst/>
          </a:prstGeom>
          <a:noFill/>
          <a:ln/>
        </p:spPr>
        <p:txBody>
          <a:bodyPr wrap="square" rtlCol="0" anchor="ctr"/>
          <a:lstStyle/>
          <a:p>
            <a:pPr algn="ctr" indent="0" marL="0">
              <a:buNone/>
            </a:pPr>
            <a:r>
              <a:rPr lang="en-US" sz="1100" b="1" dirty="0">
                <a:solidFill>
                  <a:srgbClr val="4F46E5"/>
                </a:solidFill>
                <a:latin typeface="Calibri" pitchFamily="34" charset="0"/>
                <a:ea typeface="Calibri" pitchFamily="34" charset="-122"/>
                <a:cs typeface="Calibri" pitchFamily="34" charset="-120"/>
              </a:rPr>
              <a:t>1</a:t>
            </a:r>
            <a:endParaRPr lang="en-US" sz="1100" dirty="0"/>
          </a:p>
        </p:txBody>
      </p:sp>
      <p:sp>
        <p:nvSpPr>
          <p:cNvPr id="13" name="Shape 9"/>
          <p:cNvSpPr/>
          <p:nvPr/>
        </p:nvSpPr>
        <p:spPr>
          <a:xfrm>
            <a:off x="356616" y="1645920"/>
            <a:ext cx="0" cy="182880"/>
          </a:xfrm>
          <a:prstGeom prst="line">
            <a:avLst/>
          </a:prstGeom>
          <a:noFill/>
          <a:ln w="12700">
            <a:solidFill>
              <a:srgbClr val="CBD5E1"/>
            </a:solidFill>
            <a:prstDash val="solid"/>
          </a:ln>
        </p:spPr>
      </p:sp>
      <p:sp>
        <p:nvSpPr>
          <p:cNvPr id="14" name="Text 10"/>
          <p:cNvSpPr/>
          <p:nvPr/>
        </p:nvSpPr>
        <p:spPr>
          <a:xfrm>
            <a:off x="640080" y="1316736"/>
            <a:ext cx="370332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MCP performs a Jira action</a:t>
            </a:r>
            <a:endParaRPr lang="en-US" sz="1100" dirty="0"/>
          </a:p>
        </p:txBody>
      </p:sp>
      <p:sp>
        <p:nvSpPr>
          <p:cNvPr id="15" name="Text 11"/>
          <p:cNvSpPr/>
          <p:nvPr/>
        </p:nvSpPr>
        <p:spPr>
          <a:xfrm>
            <a:off x="640080" y="1600200"/>
            <a:ext cx="3703320" cy="27432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Creates issue, changes status, adds comment — via Jira REST API</a:t>
            </a:r>
            <a:endParaRPr lang="en-US" sz="950" dirty="0"/>
          </a:p>
        </p:txBody>
      </p:sp>
      <p:sp>
        <p:nvSpPr>
          <p:cNvPr id="16" name="Shape 12"/>
          <p:cNvSpPr/>
          <p:nvPr/>
        </p:nvSpPr>
        <p:spPr>
          <a:xfrm>
            <a:off x="640080" y="1901952"/>
            <a:ext cx="3685032" cy="347472"/>
          </a:xfrm>
          <a:prstGeom prst="roundRect">
            <a:avLst>
              <a:gd name="adj" fmla="val 13158"/>
            </a:avLst>
          </a:prstGeom>
          <a:solidFill>
            <a:srgbClr val="1E293B"/>
          </a:solidFill>
          <a:ln w="12700">
            <a:solidFill>
              <a:srgbClr val="334155"/>
            </a:solidFill>
            <a:prstDash val="solid"/>
          </a:ln>
        </p:spPr>
      </p:sp>
      <p:sp>
        <p:nvSpPr>
          <p:cNvPr id="17" name="Text 13"/>
          <p:cNvSpPr/>
          <p:nvPr/>
        </p:nvSpPr>
        <p:spPr>
          <a:xfrm>
            <a:off x="685800" y="1901952"/>
            <a:ext cx="3611880" cy="347472"/>
          </a:xfrm>
          <a:prstGeom prst="rect">
            <a:avLst/>
          </a:prstGeom>
          <a:noFill/>
          <a:ln/>
        </p:spPr>
        <p:txBody>
          <a:bodyPr wrap="square" rtlCol="0" anchor="ctr"/>
          <a:lstStyle/>
          <a:p>
            <a:pPr indent="0" marL="0">
              <a:buNone/>
            </a:pPr>
            <a:r>
              <a:rPr lang="en-US" sz="850" dirty="0">
                <a:solidFill>
                  <a:srgbClr val="7DD3FC"/>
                </a:solidFill>
                <a:latin typeface="Courier New" pitchFamily="34" charset="0"/>
                <a:ea typeface="Courier New" pitchFamily="34" charset="-122"/>
                <a:cs typeface="Courier New" pitchFamily="34" charset="-120"/>
              </a:rPr>
              <a:t>POST /rest/api/2/issue/{key}/transitions</a:t>
            </a:r>
            <a:endParaRPr lang="en-US" sz="850" dirty="0"/>
          </a:p>
        </p:txBody>
      </p:sp>
      <p:sp>
        <p:nvSpPr>
          <p:cNvPr id="18" name="Shape 14"/>
          <p:cNvSpPr/>
          <p:nvPr/>
        </p:nvSpPr>
        <p:spPr>
          <a:xfrm>
            <a:off x="182880" y="2487168"/>
            <a:ext cx="347472" cy="347472"/>
          </a:xfrm>
          <a:prstGeom prst="ellipse">
            <a:avLst/>
          </a:prstGeom>
          <a:solidFill>
            <a:srgbClr val="EEF2FF"/>
          </a:solidFill>
          <a:ln w="19050">
            <a:solidFill>
              <a:srgbClr val="4F46E5"/>
            </a:solidFill>
            <a:prstDash val="solid"/>
          </a:ln>
        </p:spPr>
      </p:sp>
      <p:sp>
        <p:nvSpPr>
          <p:cNvPr id="19" name="Text 15"/>
          <p:cNvSpPr/>
          <p:nvPr/>
        </p:nvSpPr>
        <p:spPr>
          <a:xfrm>
            <a:off x="182880" y="2487168"/>
            <a:ext cx="347472" cy="347472"/>
          </a:xfrm>
          <a:prstGeom prst="rect">
            <a:avLst/>
          </a:prstGeom>
          <a:noFill/>
          <a:ln/>
        </p:spPr>
        <p:txBody>
          <a:bodyPr wrap="square" rtlCol="0" anchor="ctr"/>
          <a:lstStyle/>
          <a:p>
            <a:pPr algn="ctr" indent="0" marL="0">
              <a:buNone/>
            </a:pPr>
            <a:r>
              <a:rPr lang="en-US" sz="1100" b="1" dirty="0">
                <a:solidFill>
                  <a:srgbClr val="4F46E5"/>
                </a:solidFill>
                <a:latin typeface="Calibri" pitchFamily="34" charset="0"/>
                <a:ea typeface="Calibri" pitchFamily="34" charset="-122"/>
                <a:cs typeface="Calibri" pitchFamily="34" charset="-120"/>
              </a:rPr>
              <a:t>2</a:t>
            </a:r>
            <a:endParaRPr lang="en-US" sz="1100" dirty="0"/>
          </a:p>
        </p:txBody>
      </p:sp>
      <p:sp>
        <p:nvSpPr>
          <p:cNvPr id="20" name="Shape 16"/>
          <p:cNvSpPr/>
          <p:nvPr/>
        </p:nvSpPr>
        <p:spPr>
          <a:xfrm>
            <a:off x="356616" y="2834640"/>
            <a:ext cx="0" cy="182880"/>
          </a:xfrm>
          <a:prstGeom prst="line">
            <a:avLst/>
          </a:prstGeom>
          <a:noFill/>
          <a:ln w="12700">
            <a:solidFill>
              <a:srgbClr val="CBD5E1"/>
            </a:solidFill>
            <a:prstDash val="solid"/>
          </a:ln>
        </p:spPr>
      </p:sp>
      <p:sp>
        <p:nvSpPr>
          <p:cNvPr id="21" name="Text 17"/>
          <p:cNvSpPr/>
          <p:nvPr/>
        </p:nvSpPr>
        <p:spPr>
          <a:xfrm>
            <a:off x="640080" y="2505456"/>
            <a:ext cx="370332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Immediately call Worklog Property API</a:t>
            </a:r>
            <a:endParaRPr lang="en-US" sz="1100" dirty="0"/>
          </a:p>
        </p:txBody>
      </p:sp>
      <p:sp>
        <p:nvSpPr>
          <p:cNvPr id="22" name="Text 18"/>
          <p:cNvSpPr/>
          <p:nvPr/>
        </p:nvSpPr>
        <p:spPr>
          <a:xfrm>
            <a:off x="640080" y="2788920"/>
            <a:ext cx="3703320" cy="27432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Same code block — right after the action — writes source tag</a:t>
            </a:r>
            <a:endParaRPr lang="en-US" sz="950" dirty="0"/>
          </a:p>
        </p:txBody>
      </p:sp>
      <p:sp>
        <p:nvSpPr>
          <p:cNvPr id="23" name="Shape 19"/>
          <p:cNvSpPr/>
          <p:nvPr/>
        </p:nvSpPr>
        <p:spPr>
          <a:xfrm>
            <a:off x="640080" y="3090672"/>
            <a:ext cx="3685032" cy="347472"/>
          </a:xfrm>
          <a:prstGeom prst="roundRect">
            <a:avLst>
              <a:gd name="adj" fmla="val 13158"/>
            </a:avLst>
          </a:prstGeom>
          <a:solidFill>
            <a:srgbClr val="1E293B"/>
          </a:solidFill>
          <a:ln w="12700">
            <a:solidFill>
              <a:srgbClr val="334155"/>
            </a:solidFill>
            <a:prstDash val="solid"/>
          </a:ln>
        </p:spPr>
      </p:sp>
      <p:sp>
        <p:nvSpPr>
          <p:cNvPr id="24" name="Text 20"/>
          <p:cNvSpPr/>
          <p:nvPr/>
        </p:nvSpPr>
        <p:spPr>
          <a:xfrm>
            <a:off x="685800" y="3090672"/>
            <a:ext cx="3611880" cy="347472"/>
          </a:xfrm>
          <a:prstGeom prst="rect">
            <a:avLst/>
          </a:prstGeom>
          <a:noFill/>
          <a:ln/>
        </p:spPr>
        <p:txBody>
          <a:bodyPr wrap="square" rtlCol="0" anchor="ctr"/>
          <a:lstStyle/>
          <a:p>
            <a:pPr indent="0" marL="0">
              <a:buNone/>
            </a:pPr>
            <a:r>
              <a:rPr lang="en-US" sz="850" dirty="0">
                <a:solidFill>
                  <a:srgbClr val="7DD3FC"/>
                </a:solidFill>
                <a:latin typeface="Courier New" pitchFamily="34" charset="0"/>
                <a:ea typeface="Courier New" pitchFamily="34" charset="-122"/>
                <a:cs typeface="Courier New" pitchFamily="34" charset="-120"/>
              </a:rPr>
              <a:t>PUT .../worklog/{id}/properties/worklog-source  { source: "AI_MCP" }</a:t>
            </a:r>
            <a:endParaRPr lang="en-US" sz="850" dirty="0"/>
          </a:p>
        </p:txBody>
      </p:sp>
      <p:sp>
        <p:nvSpPr>
          <p:cNvPr id="25" name="Shape 21"/>
          <p:cNvSpPr/>
          <p:nvPr/>
        </p:nvSpPr>
        <p:spPr>
          <a:xfrm>
            <a:off x="182880" y="3675888"/>
            <a:ext cx="347472" cy="347472"/>
          </a:xfrm>
          <a:prstGeom prst="ellipse">
            <a:avLst/>
          </a:prstGeom>
          <a:solidFill>
            <a:srgbClr val="EEF2FF"/>
          </a:solidFill>
          <a:ln w="19050">
            <a:solidFill>
              <a:srgbClr val="4F46E5"/>
            </a:solidFill>
            <a:prstDash val="solid"/>
          </a:ln>
        </p:spPr>
      </p:sp>
      <p:sp>
        <p:nvSpPr>
          <p:cNvPr id="26" name="Text 22"/>
          <p:cNvSpPr/>
          <p:nvPr/>
        </p:nvSpPr>
        <p:spPr>
          <a:xfrm>
            <a:off x="182880" y="3675888"/>
            <a:ext cx="347472" cy="347472"/>
          </a:xfrm>
          <a:prstGeom prst="rect">
            <a:avLst/>
          </a:prstGeom>
          <a:noFill/>
          <a:ln/>
        </p:spPr>
        <p:txBody>
          <a:bodyPr wrap="square" rtlCol="0" anchor="ctr"/>
          <a:lstStyle/>
          <a:p>
            <a:pPr algn="ctr" indent="0" marL="0">
              <a:buNone/>
            </a:pPr>
            <a:r>
              <a:rPr lang="en-US" sz="1100" b="1" dirty="0">
                <a:solidFill>
                  <a:srgbClr val="4F46E5"/>
                </a:solidFill>
                <a:latin typeface="Calibri" pitchFamily="34" charset="0"/>
                <a:ea typeface="Calibri" pitchFamily="34" charset="-122"/>
                <a:cs typeface="Calibri" pitchFamily="34" charset="-120"/>
              </a:rPr>
              <a:t>3</a:t>
            </a:r>
            <a:endParaRPr lang="en-US" sz="1100" dirty="0"/>
          </a:p>
        </p:txBody>
      </p:sp>
      <p:sp>
        <p:nvSpPr>
          <p:cNvPr id="27" name="Text 23"/>
          <p:cNvSpPr/>
          <p:nvPr/>
        </p:nvSpPr>
        <p:spPr>
          <a:xfrm>
            <a:off x="640080" y="3694176"/>
            <a:ext cx="370332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Tag stored silently in Jira</a:t>
            </a:r>
            <a:endParaRPr lang="en-US" sz="1100" dirty="0"/>
          </a:p>
        </p:txBody>
      </p:sp>
      <p:sp>
        <p:nvSpPr>
          <p:cNvPr id="28" name="Text 24"/>
          <p:cNvSpPr/>
          <p:nvPr/>
        </p:nvSpPr>
        <p:spPr>
          <a:xfrm>
            <a:off x="640080" y="3977640"/>
            <a:ext cx="3703320" cy="27432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Invisible in Jira GUI. Only readable via API. Zero noise.</a:t>
            </a:r>
            <a:endParaRPr lang="en-US" sz="950" dirty="0"/>
          </a:p>
        </p:txBody>
      </p:sp>
      <p:sp>
        <p:nvSpPr>
          <p:cNvPr id="29" name="Shape 25"/>
          <p:cNvSpPr/>
          <p:nvPr/>
        </p:nvSpPr>
        <p:spPr>
          <a:xfrm>
            <a:off x="4754880" y="1298448"/>
            <a:ext cx="347472" cy="347472"/>
          </a:xfrm>
          <a:prstGeom prst="ellipse">
            <a:avLst/>
          </a:prstGeom>
          <a:solidFill>
            <a:srgbClr val="ECFDF5"/>
          </a:solidFill>
          <a:ln w="19050">
            <a:solidFill>
              <a:srgbClr val="059669"/>
            </a:solidFill>
            <a:prstDash val="solid"/>
          </a:ln>
        </p:spPr>
      </p:sp>
      <p:sp>
        <p:nvSpPr>
          <p:cNvPr id="30" name="Text 26"/>
          <p:cNvSpPr/>
          <p:nvPr/>
        </p:nvSpPr>
        <p:spPr>
          <a:xfrm>
            <a:off x="4754880" y="1298448"/>
            <a:ext cx="347472" cy="347472"/>
          </a:xfrm>
          <a:prstGeom prst="rect">
            <a:avLst/>
          </a:prstGeom>
          <a:noFill/>
          <a:ln/>
        </p:spPr>
        <p:txBody>
          <a:bodyPr wrap="square" rtlCol="0" anchor="ctr"/>
          <a:lstStyle/>
          <a:p>
            <a:pPr algn="ctr" indent="0" marL="0">
              <a:buNone/>
            </a:pPr>
            <a:r>
              <a:rPr lang="en-US" sz="1100" b="1" dirty="0">
                <a:solidFill>
                  <a:srgbClr val="059669"/>
                </a:solidFill>
                <a:latin typeface="Calibri" pitchFamily="34" charset="0"/>
                <a:ea typeface="Calibri" pitchFamily="34" charset="-122"/>
                <a:cs typeface="Calibri" pitchFamily="34" charset="-120"/>
              </a:rPr>
              <a:t>1</a:t>
            </a:r>
            <a:endParaRPr lang="en-US" sz="1100" dirty="0"/>
          </a:p>
        </p:txBody>
      </p:sp>
      <p:sp>
        <p:nvSpPr>
          <p:cNvPr id="31" name="Shape 27"/>
          <p:cNvSpPr/>
          <p:nvPr/>
        </p:nvSpPr>
        <p:spPr>
          <a:xfrm>
            <a:off x="4928616" y="1645920"/>
            <a:ext cx="0" cy="182880"/>
          </a:xfrm>
          <a:prstGeom prst="line">
            <a:avLst/>
          </a:prstGeom>
          <a:noFill/>
          <a:ln w="12700">
            <a:solidFill>
              <a:srgbClr val="CBD5E1"/>
            </a:solidFill>
            <a:prstDash val="solid"/>
          </a:ln>
        </p:spPr>
      </p:sp>
      <p:sp>
        <p:nvSpPr>
          <p:cNvPr id="32" name="Text 28"/>
          <p:cNvSpPr/>
          <p:nvPr/>
        </p:nvSpPr>
        <p:spPr>
          <a:xfrm>
            <a:off x="5212080" y="1316736"/>
            <a:ext cx="370332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Human acts in Jira browser UI</a:t>
            </a:r>
            <a:endParaRPr lang="en-US" sz="1100" dirty="0"/>
          </a:p>
        </p:txBody>
      </p:sp>
      <p:sp>
        <p:nvSpPr>
          <p:cNvPr id="33" name="Text 29"/>
          <p:cNvSpPr/>
          <p:nvPr/>
        </p:nvSpPr>
        <p:spPr>
          <a:xfrm>
            <a:off x="5212080" y="1600200"/>
            <a:ext cx="3703320" cy="27432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Developer changes status, adds comment — through normal Jira interface</a:t>
            </a:r>
            <a:endParaRPr lang="en-US" sz="950" dirty="0"/>
          </a:p>
        </p:txBody>
      </p:sp>
      <p:sp>
        <p:nvSpPr>
          <p:cNvPr id="34" name="Shape 30"/>
          <p:cNvSpPr/>
          <p:nvPr/>
        </p:nvSpPr>
        <p:spPr>
          <a:xfrm>
            <a:off x="4754880" y="2487168"/>
            <a:ext cx="347472" cy="347472"/>
          </a:xfrm>
          <a:prstGeom prst="ellipse">
            <a:avLst/>
          </a:prstGeom>
          <a:solidFill>
            <a:srgbClr val="ECFDF5"/>
          </a:solidFill>
          <a:ln w="19050">
            <a:solidFill>
              <a:srgbClr val="059669"/>
            </a:solidFill>
            <a:prstDash val="solid"/>
          </a:ln>
        </p:spPr>
      </p:sp>
      <p:sp>
        <p:nvSpPr>
          <p:cNvPr id="35" name="Text 31"/>
          <p:cNvSpPr/>
          <p:nvPr/>
        </p:nvSpPr>
        <p:spPr>
          <a:xfrm>
            <a:off x="4754880" y="2487168"/>
            <a:ext cx="347472" cy="347472"/>
          </a:xfrm>
          <a:prstGeom prst="rect">
            <a:avLst/>
          </a:prstGeom>
          <a:noFill/>
          <a:ln/>
        </p:spPr>
        <p:txBody>
          <a:bodyPr wrap="square" rtlCol="0" anchor="ctr"/>
          <a:lstStyle/>
          <a:p>
            <a:pPr algn="ctr" indent="0" marL="0">
              <a:buNone/>
            </a:pPr>
            <a:r>
              <a:rPr lang="en-US" sz="1100" b="1" dirty="0">
                <a:solidFill>
                  <a:srgbClr val="059669"/>
                </a:solidFill>
                <a:latin typeface="Calibri" pitchFamily="34" charset="0"/>
                <a:ea typeface="Calibri" pitchFamily="34" charset="-122"/>
                <a:cs typeface="Calibri" pitchFamily="34" charset="-120"/>
              </a:rPr>
              <a:t>2</a:t>
            </a:r>
            <a:endParaRPr lang="en-US" sz="1100" dirty="0"/>
          </a:p>
        </p:txBody>
      </p:sp>
      <p:sp>
        <p:nvSpPr>
          <p:cNvPr id="36" name="Shape 32"/>
          <p:cNvSpPr/>
          <p:nvPr/>
        </p:nvSpPr>
        <p:spPr>
          <a:xfrm>
            <a:off x="4928616" y="2834640"/>
            <a:ext cx="0" cy="182880"/>
          </a:xfrm>
          <a:prstGeom prst="line">
            <a:avLst/>
          </a:prstGeom>
          <a:noFill/>
          <a:ln w="12700">
            <a:solidFill>
              <a:srgbClr val="CBD5E1"/>
            </a:solidFill>
            <a:prstDash val="solid"/>
          </a:ln>
        </p:spPr>
      </p:sp>
      <p:sp>
        <p:nvSpPr>
          <p:cNvPr id="37" name="Text 33"/>
          <p:cNvSpPr/>
          <p:nvPr/>
        </p:nvSpPr>
        <p:spPr>
          <a:xfrm>
            <a:off x="5212080" y="2505456"/>
            <a:ext cx="370332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Jira fires a Webhook to your server</a:t>
            </a:r>
            <a:endParaRPr lang="en-US" sz="1100" dirty="0"/>
          </a:p>
        </p:txBody>
      </p:sp>
      <p:sp>
        <p:nvSpPr>
          <p:cNvPr id="38" name="Text 34"/>
          <p:cNvSpPr/>
          <p:nvPr/>
        </p:nvSpPr>
        <p:spPr>
          <a:xfrm>
            <a:off x="5212080" y="2788920"/>
            <a:ext cx="3703320" cy="27432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Server receives event with actor email + issue key</a:t>
            </a:r>
            <a:endParaRPr lang="en-US" sz="950" dirty="0"/>
          </a:p>
        </p:txBody>
      </p:sp>
      <p:sp>
        <p:nvSpPr>
          <p:cNvPr id="39" name="Shape 35"/>
          <p:cNvSpPr/>
          <p:nvPr/>
        </p:nvSpPr>
        <p:spPr>
          <a:xfrm>
            <a:off x="5212080" y="3090672"/>
            <a:ext cx="3685032" cy="347472"/>
          </a:xfrm>
          <a:prstGeom prst="roundRect">
            <a:avLst>
              <a:gd name="adj" fmla="val 13158"/>
            </a:avLst>
          </a:prstGeom>
          <a:solidFill>
            <a:srgbClr val="1E293B"/>
          </a:solidFill>
          <a:ln w="12700">
            <a:solidFill>
              <a:srgbClr val="334155"/>
            </a:solidFill>
            <a:prstDash val="solid"/>
          </a:ln>
        </p:spPr>
      </p:sp>
      <p:sp>
        <p:nvSpPr>
          <p:cNvPr id="40" name="Text 36"/>
          <p:cNvSpPr/>
          <p:nvPr/>
        </p:nvSpPr>
        <p:spPr>
          <a:xfrm>
            <a:off x="5257800" y="3090672"/>
            <a:ext cx="3611880" cy="347472"/>
          </a:xfrm>
          <a:prstGeom prst="rect">
            <a:avLst/>
          </a:prstGeom>
          <a:noFill/>
          <a:ln/>
        </p:spPr>
        <p:txBody>
          <a:bodyPr wrap="square" rtlCol="0" anchor="ctr"/>
          <a:lstStyle/>
          <a:p>
            <a:pPr indent="0" marL="0">
              <a:buNone/>
            </a:pPr>
            <a:r>
              <a:rPr lang="en-US" sz="850" dirty="0">
                <a:solidFill>
                  <a:srgbClr val="7DD3FC"/>
                </a:solidFill>
                <a:latin typeface="Courier New" pitchFamily="34" charset="0"/>
                <a:ea typeface="Courier New" pitchFamily="34" charset="-122"/>
                <a:cs typeface="Courier New" pitchFamily="34" charset="-120"/>
              </a:rPr>
              <a:t>webhookEvent: "jira:issue_updated"  user: { email: "john@co.com" }</a:t>
            </a:r>
            <a:endParaRPr lang="en-US" sz="850" dirty="0"/>
          </a:p>
        </p:txBody>
      </p:sp>
      <p:sp>
        <p:nvSpPr>
          <p:cNvPr id="41" name="Shape 37"/>
          <p:cNvSpPr/>
          <p:nvPr/>
        </p:nvSpPr>
        <p:spPr>
          <a:xfrm>
            <a:off x="4754880" y="3675888"/>
            <a:ext cx="347472" cy="347472"/>
          </a:xfrm>
          <a:prstGeom prst="ellipse">
            <a:avLst/>
          </a:prstGeom>
          <a:solidFill>
            <a:srgbClr val="ECFDF5"/>
          </a:solidFill>
          <a:ln w="19050">
            <a:solidFill>
              <a:srgbClr val="059669"/>
            </a:solidFill>
            <a:prstDash val="solid"/>
          </a:ln>
        </p:spPr>
      </p:sp>
      <p:sp>
        <p:nvSpPr>
          <p:cNvPr id="42" name="Text 38"/>
          <p:cNvSpPr/>
          <p:nvPr/>
        </p:nvSpPr>
        <p:spPr>
          <a:xfrm>
            <a:off x="4754880" y="3675888"/>
            <a:ext cx="347472" cy="347472"/>
          </a:xfrm>
          <a:prstGeom prst="rect">
            <a:avLst/>
          </a:prstGeom>
          <a:noFill/>
          <a:ln/>
        </p:spPr>
        <p:txBody>
          <a:bodyPr wrap="square" rtlCol="0" anchor="ctr"/>
          <a:lstStyle/>
          <a:p>
            <a:pPr algn="ctr" indent="0" marL="0">
              <a:buNone/>
            </a:pPr>
            <a:r>
              <a:rPr lang="en-US" sz="1100" b="1" dirty="0">
                <a:solidFill>
                  <a:srgbClr val="059669"/>
                </a:solidFill>
                <a:latin typeface="Calibri" pitchFamily="34" charset="0"/>
                <a:ea typeface="Calibri" pitchFamily="34" charset="-122"/>
                <a:cs typeface="Calibri" pitchFamily="34" charset="-120"/>
              </a:rPr>
              <a:t>3</a:t>
            </a:r>
            <a:endParaRPr lang="en-US" sz="1100" dirty="0"/>
          </a:p>
        </p:txBody>
      </p:sp>
      <p:sp>
        <p:nvSpPr>
          <p:cNvPr id="43" name="Text 39"/>
          <p:cNvSpPr/>
          <p:nvPr/>
        </p:nvSpPr>
        <p:spPr>
          <a:xfrm>
            <a:off x="5212080" y="3694176"/>
            <a:ext cx="370332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Server checks + writes HUMAN tag</a:t>
            </a:r>
            <a:endParaRPr lang="en-US" sz="1100" dirty="0"/>
          </a:p>
        </p:txBody>
      </p:sp>
      <p:sp>
        <p:nvSpPr>
          <p:cNvPr id="44" name="Text 40"/>
          <p:cNvSpPr/>
          <p:nvPr/>
        </p:nvSpPr>
        <p:spPr>
          <a:xfrm>
            <a:off x="5212080" y="3977640"/>
            <a:ext cx="3703320" cy="27432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If email ≠ bot email → it's human → writes source: HUMAN</a:t>
            </a:r>
            <a:endParaRPr lang="en-US" sz="950" dirty="0"/>
          </a:p>
        </p:txBody>
      </p:sp>
      <p:sp>
        <p:nvSpPr>
          <p:cNvPr id="45" name="Shape 41"/>
          <p:cNvSpPr/>
          <p:nvPr/>
        </p:nvSpPr>
        <p:spPr>
          <a:xfrm>
            <a:off x="5212080" y="4279392"/>
            <a:ext cx="3685032" cy="347472"/>
          </a:xfrm>
          <a:prstGeom prst="roundRect">
            <a:avLst>
              <a:gd name="adj" fmla="val 13158"/>
            </a:avLst>
          </a:prstGeom>
          <a:solidFill>
            <a:srgbClr val="1E293B"/>
          </a:solidFill>
          <a:ln w="12700">
            <a:solidFill>
              <a:srgbClr val="334155"/>
            </a:solidFill>
            <a:prstDash val="solid"/>
          </a:ln>
        </p:spPr>
      </p:sp>
      <p:sp>
        <p:nvSpPr>
          <p:cNvPr id="46" name="Text 42"/>
          <p:cNvSpPr/>
          <p:nvPr/>
        </p:nvSpPr>
        <p:spPr>
          <a:xfrm>
            <a:off x="5257800" y="4279392"/>
            <a:ext cx="3611880" cy="347472"/>
          </a:xfrm>
          <a:prstGeom prst="rect">
            <a:avLst/>
          </a:prstGeom>
          <a:noFill/>
          <a:ln/>
        </p:spPr>
        <p:txBody>
          <a:bodyPr wrap="square" rtlCol="0" anchor="ctr"/>
          <a:lstStyle/>
          <a:p>
            <a:pPr indent="0" marL="0">
              <a:buNone/>
            </a:pPr>
            <a:r>
              <a:rPr lang="en-US" sz="850" dirty="0">
                <a:solidFill>
                  <a:srgbClr val="7DD3FC"/>
                </a:solidFill>
                <a:latin typeface="Courier New" pitchFamily="34" charset="0"/>
                <a:ea typeface="Courier New" pitchFamily="34" charset="-122"/>
                <a:cs typeface="Courier New" pitchFamily="34" charset="-120"/>
              </a:rPr>
              <a:t>PUT .../worklog/{id}/properties/worklog-source  { source: "HUMAN" }</a:t>
            </a:r>
            <a:endParaRPr lang="en-US" sz="850" dirty="0"/>
          </a:p>
        </p:txBody>
      </p:sp>
      <p:sp>
        <p:nvSpPr>
          <p:cNvPr id="47" name="Shape 43"/>
          <p:cNvSpPr/>
          <p:nvPr/>
        </p:nvSpPr>
        <p:spPr>
          <a:xfrm>
            <a:off x="182880" y="4617720"/>
            <a:ext cx="8778240" cy="365760"/>
          </a:xfrm>
          <a:prstGeom prst="roundRect">
            <a:avLst>
              <a:gd name="adj" fmla="val 15000"/>
            </a:avLst>
          </a:prstGeom>
          <a:solidFill>
            <a:srgbClr val="EFF6FF"/>
          </a:solidFill>
          <a:ln w="12700">
            <a:solidFill>
              <a:srgbClr val="2563EB">
                <a:alpha val="50000"/>
              </a:srgbClr>
            </a:solidFill>
            <a:prstDash val="solid"/>
          </a:ln>
        </p:spPr>
      </p:sp>
      <p:pic>
        <p:nvPicPr>
          <p:cNvPr id="48" name="Image 2" descr="preencoded.png">    </p:cNvPr>
          <p:cNvPicPr>
            <a:picLocks noChangeAspect="1"/>
          </p:cNvPicPr>
          <p:nvPr/>
        </p:nvPicPr>
        <p:blipFill>
          <a:blip r:embed="rId3"/>
          <a:stretch>
            <a:fillRect/>
          </a:stretch>
        </p:blipFill>
        <p:spPr>
          <a:xfrm>
            <a:off x="320040" y="4663440"/>
            <a:ext cx="256032" cy="256032"/>
          </a:xfrm>
          <a:prstGeom prst="rect">
            <a:avLst/>
          </a:prstGeom>
        </p:spPr>
      </p:pic>
      <p:sp>
        <p:nvSpPr>
          <p:cNvPr id="49" name="Text 44"/>
          <p:cNvSpPr/>
          <p:nvPr/>
        </p:nvSpPr>
        <p:spPr>
          <a:xfrm>
            <a:off x="640080" y="4617720"/>
            <a:ext cx="8229600" cy="365760"/>
          </a:xfrm>
          <a:prstGeom prst="rect">
            <a:avLst/>
          </a:prstGeom>
          <a:noFill/>
          <a:ln/>
        </p:spPr>
        <p:txBody>
          <a:bodyPr wrap="square"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Both flows write to the same place — Jira Worklog Entity Properties — no external database needed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3A5F"/>
          </a:solidFill>
          <a:ln w="12700">
            <a:solidFill>
              <a:srgbClr val="1E3A5F"/>
            </a:solidFill>
            <a:prstDash val="solid"/>
          </a:ln>
        </p:spPr>
      </p:sp>
      <p:sp>
        <p:nvSpPr>
          <p:cNvPr id="3" name="Text 1"/>
          <p:cNvSpPr/>
          <p:nvPr/>
        </p:nvSpPr>
        <p:spPr>
          <a:xfrm>
            <a:off x="274320" y="0"/>
            <a:ext cx="548640" cy="685800"/>
          </a:xfrm>
          <a:prstGeom prst="rect">
            <a:avLst/>
          </a:prstGeom>
          <a:noFill/>
          <a:ln/>
        </p:spPr>
        <p:txBody>
          <a:bodyPr wrap="square" rtlCol="0" anchor="ctr"/>
          <a:lstStyle/>
          <a:p>
            <a:pPr indent="0" marL="0">
              <a:buNone/>
            </a:pPr>
            <a:r>
              <a:rPr lang="en-US" sz="1100" b="1" dirty="0">
                <a:solidFill>
                  <a:srgbClr val="818CF8"/>
                </a:solidFill>
                <a:latin typeface="Calibri" pitchFamily="34" charset="0"/>
                <a:ea typeface="Calibri" pitchFamily="34" charset="-122"/>
                <a:cs typeface="Calibri" pitchFamily="34" charset="-120"/>
              </a:rPr>
              <a:t>03</a:t>
            </a:r>
            <a:endParaRPr lang="en-US" sz="1100" dirty="0"/>
          </a:p>
        </p:txBody>
      </p:sp>
      <p:sp>
        <p:nvSpPr>
          <p:cNvPr id="4" name="Text 2"/>
          <p:cNvSpPr/>
          <p:nvPr/>
        </p:nvSpPr>
        <p:spPr>
          <a:xfrm>
            <a:off x="777240" y="0"/>
            <a:ext cx="8229600" cy="685800"/>
          </a:xfrm>
          <a:prstGeom prst="rect">
            <a:avLst/>
          </a:prstGeom>
          <a:noFill/>
          <a:ln/>
        </p:spPr>
        <p:txBody>
          <a:bodyPr wrap="square"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QUERY &amp; DASHBOARD</a:t>
            </a:r>
            <a:endParaRPr lang="en-US" sz="1300" dirty="0"/>
          </a:p>
        </p:txBody>
      </p:sp>
      <p:sp>
        <p:nvSpPr>
          <p:cNvPr id="5" name="Shape 3"/>
          <p:cNvSpPr/>
          <p:nvPr/>
        </p:nvSpPr>
        <p:spPr>
          <a:xfrm>
            <a:off x="182880" y="804672"/>
            <a:ext cx="4114800" cy="4114800"/>
          </a:xfrm>
          <a:prstGeom prst="roundRect">
            <a:avLst>
              <a:gd name="adj" fmla="val 2222"/>
            </a:avLst>
          </a:prstGeom>
          <a:solidFill>
            <a:srgbClr val="FFFFFF"/>
          </a:solidFill>
          <a:ln w="12700">
            <a:solidFill>
              <a:srgbClr val="2563EB">
                <a:alpha val="40000"/>
              </a:srgbClr>
            </a:solidFill>
            <a:prstDash val="solid"/>
          </a:ln>
          <a:effectLst>
            <a:outerShdw sx="100000" sy="100000" kx="0" ky="0" algn="bl" rotWithShape="0" blurRad="63500" dist="25400" dir="2700000">
              <a:srgbClr val="000000">
                <a:alpha val="8000"/>
              </a:srgbClr>
            </a:outerShdw>
          </a:effectLst>
        </p:spPr>
      </p:sp>
      <p:pic>
        <p:nvPicPr>
          <p:cNvPr id="6" name="Image 0" descr="preencoded.png">    </p:cNvPr>
          <p:cNvPicPr>
            <a:picLocks noChangeAspect="1"/>
          </p:cNvPicPr>
          <p:nvPr/>
        </p:nvPicPr>
        <p:blipFill>
          <a:blip r:embed="rId1"/>
          <a:stretch>
            <a:fillRect/>
          </a:stretch>
        </p:blipFill>
        <p:spPr>
          <a:xfrm>
            <a:off x="347472" y="896112"/>
            <a:ext cx="274320" cy="274320"/>
          </a:xfrm>
          <a:prstGeom prst="rect">
            <a:avLst/>
          </a:prstGeom>
        </p:spPr>
      </p:pic>
      <p:sp>
        <p:nvSpPr>
          <p:cNvPr id="7" name="Text 4"/>
          <p:cNvSpPr/>
          <p:nvPr/>
        </p:nvSpPr>
        <p:spPr>
          <a:xfrm>
            <a:off x="667512" y="868680"/>
            <a:ext cx="3657600" cy="347472"/>
          </a:xfrm>
          <a:prstGeom prst="rect">
            <a:avLst/>
          </a:prstGeom>
          <a:noFill/>
          <a:ln/>
        </p:spPr>
        <p:txBody>
          <a:bodyPr wrap="square" rtlCol="0" anchor="ctr"/>
          <a:lstStyle/>
          <a:p>
            <a:pPr indent="0" marL="0">
              <a:buNone/>
            </a:pPr>
            <a:r>
              <a:rPr lang="en-US" sz="1300" b="1" dirty="0">
                <a:solidFill>
                  <a:srgbClr val="2563EB"/>
                </a:solidFill>
                <a:latin typeface="Calibri" pitchFamily="34" charset="0"/>
                <a:ea typeface="Calibri" pitchFamily="34" charset="-122"/>
                <a:cs typeface="Calibri" pitchFamily="34" charset="-120"/>
              </a:rPr>
              <a:t>Query by Epic</a:t>
            </a:r>
            <a:endParaRPr lang="en-US" sz="1300" dirty="0"/>
          </a:p>
        </p:txBody>
      </p:sp>
      <p:sp>
        <p:nvSpPr>
          <p:cNvPr id="8" name="Shape 5"/>
          <p:cNvSpPr/>
          <p:nvPr/>
        </p:nvSpPr>
        <p:spPr>
          <a:xfrm>
            <a:off x="320040" y="1298448"/>
            <a:ext cx="3840480" cy="685800"/>
          </a:xfrm>
          <a:prstGeom prst="roundRect">
            <a:avLst>
              <a:gd name="adj" fmla="val 8000"/>
            </a:avLst>
          </a:prstGeom>
          <a:solidFill>
            <a:srgbClr val="1E293B"/>
          </a:solidFill>
          <a:ln w="12700">
            <a:solidFill>
              <a:srgbClr val="334155"/>
            </a:solidFill>
            <a:prstDash val="solid"/>
          </a:ln>
        </p:spPr>
      </p:sp>
      <p:sp>
        <p:nvSpPr>
          <p:cNvPr id="9" name="Text 6"/>
          <p:cNvSpPr/>
          <p:nvPr/>
        </p:nvSpPr>
        <p:spPr>
          <a:xfrm>
            <a:off x="384048" y="1298448"/>
            <a:ext cx="3730752" cy="685800"/>
          </a:xfrm>
          <a:prstGeom prst="rect">
            <a:avLst/>
          </a:prstGeom>
          <a:noFill/>
          <a:ln/>
        </p:spPr>
        <p:txBody>
          <a:bodyPr wrap="square" rtlCol="0" anchor="ctr"/>
          <a:lstStyle/>
          <a:p>
            <a:pPr indent="0" marL="0">
              <a:buNone/>
            </a:pPr>
            <a:r>
              <a:rPr lang="en-US" sz="900" b="1" dirty="0">
                <a:solidFill>
                  <a:srgbClr val="6EE7B7"/>
                </a:solidFill>
                <a:latin typeface="Courier New" pitchFamily="34" charset="0"/>
                <a:ea typeface="Courier New" pitchFamily="34" charset="-122"/>
                <a:cs typeface="Courier New" pitchFamily="34" charset="-120"/>
              </a:rPr>
              <a:t>GET</a:t>
            </a:r>
            <a:pPr indent="0" marL="0">
              <a:buNone/>
            </a:pPr>
            <a:r>
              <a:rPr lang="en-US" sz="900" dirty="0">
                <a:solidFill>
                  <a:srgbClr val="7DD3FC"/>
                </a:solidFill>
                <a:latin typeface="Courier New" pitchFamily="34" charset="0"/>
                <a:ea typeface="Courier New" pitchFamily="34" charset="-122"/>
                <a:cs typeface="Courier New" pitchFamily="34" charset="-120"/>
              </a:rPr>
              <a:t> /rest/api/2/search</a:t>
            </a:r>
            <a:pPr indent="0" marL="0">
              <a:buNone/>
            </a:pPr>
            <a:endParaRPr lang="en-US" sz="900" dirty="0"/>
          </a:p>
          <a:p>
            <a:pPr indent="0" marL="0">
              <a:buNone/>
            </a:pPr>
            <a:r>
              <a:rPr lang="en-US" sz="900" dirty="0">
                <a:solidFill>
                  <a:srgbClr val="94A3B8"/>
                </a:solidFill>
                <a:latin typeface="Courier New" pitchFamily="34" charset="0"/>
                <a:ea typeface="Courier New" pitchFamily="34" charset="-122"/>
                <a:cs typeface="Courier New" pitchFamily="34" charset="-120"/>
              </a:rPr>
              <a:t>?jql=</a:t>
            </a:r>
            <a:endParaRPr lang="en-US" sz="900" dirty="0"/>
          </a:p>
          <a:p>
            <a:pPr indent="0" marL="0">
              <a:buNone/>
            </a:pPr>
            <a:r>
              <a:rPr lang="en-US" sz="900" dirty="0">
                <a:solidFill>
                  <a:srgbClr val="FCD34D"/>
                </a:solidFill>
                <a:latin typeface="Courier New" pitchFamily="34" charset="0"/>
                <a:ea typeface="Courier New" pitchFamily="34" charset="-122"/>
                <a:cs typeface="Courier New" pitchFamily="34" charset="-120"/>
              </a:rPr>
              <a:t>"Epic Link" = EPIC-42</a:t>
            </a:r>
            <a:endParaRPr lang="en-US" sz="900" dirty="0"/>
          </a:p>
        </p:txBody>
      </p:sp>
      <p:sp>
        <p:nvSpPr>
          <p:cNvPr id="10" name="Shape 7"/>
          <p:cNvSpPr/>
          <p:nvPr/>
        </p:nvSpPr>
        <p:spPr>
          <a:xfrm>
            <a:off x="320040" y="2084832"/>
            <a:ext cx="3840480" cy="301752"/>
          </a:xfrm>
          <a:prstGeom prst="rect">
            <a:avLst/>
          </a:prstGeom>
          <a:solidFill>
            <a:srgbClr val="F8FAFC"/>
          </a:solidFill>
          <a:ln w="12700">
            <a:solidFill>
              <a:srgbClr val="F1F5F9"/>
            </a:solidFill>
            <a:prstDash val="solid"/>
          </a:ln>
        </p:spPr>
      </p:sp>
      <p:sp>
        <p:nvSpPr>
          <p:cNvPr id="11" name="Text 8"/>
          <p:cNvSpPr/>
          <p:nvPr/>
        </p:nvSpPr>
        <p:spPr>
          <a:xfrm>
            <a:off x="411480" y="2084832"/>
            <a:ext cx="2560320" cy="301752"/>
          </a:xfrm>
          <a:prstGeom prst="rect">
            <a:avLst/>
          </a:prstGeom>
          <a:noFill/>
          <a:ln/>
        </p:spPr>
        <p:txBody>
          <a:bodyPr wrap="square" rtlCol="0" anchor="ctr"/>
          <a:lstStyle/>
          <a:p>
            <a:pPr indent="0" marL="0">
              <a:buNone/>
            </a:pPr>
            <a:r>
              <a:rPr lang="en-US" sz="1000" dirty="0">
                <a:solidFill>
                  <a:srgbClr val="475569"/>
                </a:solidFill>
                <a:latin typeface="Calibri" pitchFamily="34" charset="0"/>
                <a:ea typeface="Calibri" pitchFamily="34" charset="-122"/>
                <a:cs typeface="Calibri" pitchFamily="34" charset="-120"/>
              </a:rPr>
              <a:t>Epic: EPIC-42 — Login Module</a:t>
            </a:r>
            <a:endParaRPr lang="en-US" sz="1000" dirty="0"/>
          </a:p>
        </p:txBody>
      </p:sp>
      <p:sp>
        <p:nvSpPr>
          <p:cNvPr id="12" name="Text 9"/>
          <p:cNvSpPr/>
          <p:nvPr/>
        </p:nvSpPr>
        <p:spPr>
          <a:xfrm>
            <a:off x="411480" y="2404872"/>
            <a:ext cx="2560320" cy="301752"/>
          </a:xfrm>
          <a:prstGeom prst="rect">
            <a:avLst/>
          </a:prstGeom>
          <a:noFill/>
          <a:ln/>
        </p:spPr>
        <p:txBody>
          <a:bodyPr wrap="square" rtlCol="0" anchor="ctr"/>
          <a:lstStyle/>
          <a:p>
            <a:pPr indent="0" marL="0">
              <a:buNone/>
            </a:pPr>
            <a:r>
              <a:rPr lang="en-US" sz="1000" dirty="0">
                <a:solidFill>
                  <a:srgbClr val="475569"/>
                </a:solidFill>
                <a:latin typeface="Calibri" pitchFamily="34" charset="0"/>
                <a:ea typeface="Calibri" pitchFamily="34" charset="-122"/>
                <a:cs typeface="Calibri" pitchFamily="34" charset="-120"/>
              </a:rPr>
              <a:t>Total Actions</a:t>
            </a:r>
            <a:endParaRPr lang="en-US" sz="1000" dirty="0"/>
          </a:p>
        </p:txBody>
      </p:sp>
      <p:sp>
        <p:nvSpPr>
          <p:cNvPr id="13" name="Text 10"/>
          <p:cNvSpPr/>
          <p:nvPr/>
        </p:nvSpPr>
        <p:spPr>
          <a:xfrm>
            <a:off x="2926080" y="2404872"/>
            <a:ext cx="1097280" cy="301752"/>
          </a:xfrm>
          <a:prstGeom prst="rect">
            <a:avLst/>
          </a:prstGeom>
          <a:noFill/>
          <a:ln/>
        </p:spPr>
        <p:txBody>
          <a:bodyPr wrap="square" rtlCol="0" anchor="ctr"/>
          <a:lstStyle/>
          <a:p>
            <a:pPr algn="r" indent="0" marL="0">
              <a:buNone/>
            </a:pPr>
            <a:r>
              <a:rPr lang="en-US" sz="1000" b="1" dirty="0">
                <a:solidFill>
                  <a:srgbClr val="1E293B"/>
                </a:solidFill>
                <a:latin typeface="Calibri" pitchFamily="34" charset="0"/>
                <a:ea typeface="Calibri" pitchFamily="34" charset="-122"/>
                <a:cs typeface="Calibri" pitchFamily="34" charset="-120"/>
              </a:rPr>
              <a:t>48</a:t>
            </a:r>
            <a:endParaRPr lang="en-US" sz="1000" dirty="0"/>
          </a:p>
        </p:txBody>
      </p:sp>
      <p:sp>
        <p:nvSpPr>
          <p:cNvPr id="14" name="Shape 11"/>
          <p:cNvSpPr/>
          <p:nvPr/>
        </p:nvSpPr>
        <p:spPr>
          <a:xfrm>
            <a:off x="320040" y="2724912"/>
            <a:ext cx="3840480" cy="301752"/>
          </a:xfrm>
          <a:prstGeom prst="rect">
            <a:avLst/>
          </a:prstGeom>
          <a:solidFill>
            <a:srgbClr val="F8FAFC"/>
          </a:solidFill>
          <a:ln w="12700">
            <a:solidFill>
              <a:srgbClr val="F1F5F9"/>
            </a:solidFill>
            <a:prstDash val="solid"/>
          </a:ln>
        </p:spPr>
      </p:sp>
      <p:sp>
        <p:nvSpPr>
          <p:cNvPr id="15" name="Text 12"/>
          <p:cNvSpPr/>
          <p:nvPr/>
        </p:nvSpPr>
        <p:spPr>
          <a:xfrm>
            <a:off x="411480" y="2724912"/>
            <a:ext cx="2560320" cy="301752"/>
          </a:xfrm>
          <a:prstGeom prst="rect">
            <a:avLst/>
          </a:prstGeom>
          <a:noFill/>
          <a:ln/>
        </p:spPr>
        <p:txBody>
          <a:bodyPr wrap="square" rtlCol="0" anchor="ctr"/>
          <a:lstStyle/>
          <a:p>
            <a:pPr indent="0" marL="0">
              <a:buNone/>
            </a:pPr>
            <a:r>
              <a:rPr lang="en-US" sz="1000" dirty="0">
                <a:solidFill>
                  <a:srgbClr val="475569"/>
                </a:solidFill>
                <a:latin typeface="Calibri" pitchFamily="34" charset="0"/>
                <a:ea typeface="Calibri" pitchFamily="34" charset="-122"/>
                <a:cs typeface="Calibri" pitchFamily="34" charset="-120"/>
              </a:rPr>
              <a:t>AI Actions</a:t>
            </a:r>
            <a:endParaRPr lang="en-US" sz="1000" dirty="0"/>
          </a:p>
        </p:txBody>
      </p:sp>
      <p:sp>
        <p:nvSpPr>
          <p:cNvPr id="16" name="Text 13"/>
          <p:cNvSpPr/>
          <p:nvPr/>
        </p:nvSpPr>
        <p:spPr>
          <a:xfrm>
            <a:off x="2926080" y="2724912"/>
            <a:ext cx="1097280" cy="301752"/>
          </a:xfrm>
          <a:prstGeom prst="rect">
            <a:avLst/>
          </a:prstGeom>
          <a:noFill/>
          <a:ln/>
        </p:spPr>
        <p:txBody>
          <a:bodyPr wrap="square" rtlCol="0" anchor="ctr"/>
          <a:lstStyle/>
          <a:p>
            <a:pPr algn="r" indent="0" marL="0">
              <a:buNone/>
            </a:pPr>
            <a:r>
              <a:rPr lang="en-US" sz="1000" b="1" dirty="0">
                <a:solidFill>
                  <a:srgbClr val="4F46E5"/>
                </a:solidFill>
                <a:latin typeface="Calibri" pitchFamily="34" charset="0"/>
                <a:ea typeface="Calibri" pitchFamily="34" charset="-122"/>
                <a:cs typeface="Calibri" pitchFamily="34" charset="-120"/>
              </a:rPr>
              <a:t>31 (65%)</a:t>
            </a:r>
            <a:endParaRPr lang="en-US" sz="1000" dirty="0"/>
          </a:p>
        </p:txBody>
      </p:sp>
      <p:sp>
        <p:nvSpPr>
          <p:cNvPr id="17" name="Text 14"/>
          <p:cNvSpPr/>
          <p:nvPr/>
        </p:nvSpPr>
        <p:spPr>
          <a:xfrm>
            <a:off x="411480" y="3044952"/>
            <a:ext cx="2560320" cy="301752"/>
          </a:xfrm>
          <a:prstGeom prst="rect">
            <a:avLst/>
          </a:prstGeom>
          <a:noFill/>
          <a:ln/>
        </p:spPr>
        <p:txBody>
          <a:bodyPr wrap="square" rtlCol="0" anchor="ctr"/>
          <a:lstStyle/>
          <a:p>
            <a:pPr indent="0" marL="0">
              <a:buNone/>
            </a:pPr>
            <a:r>
              <a:rPr lang="en-US" sz="1000" dirty="0">
                <a:solidFill>
                  <a:srgbClr val="475569"/>
                </a:solidFill>
                <a:latin typeface="Calibri" pitchFamily="34" charset="0"/>
                <a:ea typeface="Calibri" pitchFamily="34" charset="-122"/>
                <a:cs typeface="Calibri" pitchFamily="34" charset="-120"/>
              </a:rPr>
              <a:t>Human Actions</a:t>
            </a:r>
            <a:endParaRPr lang="en-US" sz="1000" dirty="0"/>
          </a:p>
        </p:txBody>
      </p:sp>
      <p:sp>
        <p:nvSpPr>
          <p:cNvPr id="18" name="Text 15"/>
          <p:cNvSpPr/>
          <p:nvPr/>
        </p:nvSpPr>
        <p:spPr>
          <a:xfrm>
            <a:off x="2926080" y="3044952"/>
            <a:ext cx="1097280" cy="301752"/>
          </a:xfrm>
          <a:prstGeom prst="rect">
            <a:avLst/>
          </a:prstGeom>
          <a:noFill/>
          <a:ln/>
        </p:spPr>
        <p:txBody>
          <a:bodyPr wrap="square" rtlCol="0" anchor="ctr"/>
          <a:lstStyle/>
          <a:p>
            <a:pPr algn="r" indent="0" marL="0">
              <a:buNone/>
            </a:pPr>
            <a:r>
              <a:rPr lang="en-US" sz="1000" b="1" dirty="0">
                <a:solidFill>
                  <a:srgbClr val="059669"/>
                </a:solidFill>
                <a:latin typeface="Calibri" pitchFamily="34" charset="0"/>
                <a:ea typeface="Calibri" pitchFamily="34" charset="-122"/>
                <a:cs typeface="Calibri" pitchFamily="34" charset="-120"/>
              </a:rPr>
              <a:t>17 (35%)</a:t>
            </a:r>
            <a:endParaRPr lang="en-US" sz="1000" dirty="0"/>
          </a:p>
        </p:txBody>
      </p:sp>
      <p:graphicFrame>
        <p:nvGraphicFramePr>
          <p:cNvPr id="19" name="Chart 0" descr=""/>
          <p:cNvGraphicFramePr/>
          <p:nvPr/>
        </p:nvGraphicFramePr>
        <p:xfrm>
          <a:off x="320040" y="3364992"/>
          <a:ext cx="3840480" cy="1417320"/>
        </p:xfrm>
        <a:graphic xmlns:a="http://schemas.openxmlformats.org/drawingml/2006/main">
          <a:graphicData uri="http://schemas.openxmlformats.org/drawingml/2006/chart">
            <c:chart xmlns:c="http://schemas.openxmlformats.org/drawingml/2006/chart" r:id="rId2"/>
          </a:graphicData>
        </a:graphic>
      </p:graphicFrame>
      <p:sp>
        <p:nvSpPr>
          <p:cNvPr id="20" name="Shape 16"/>
          <p:cNvSpPr/>
          <p:nvPr/>
        </p:nvSpPr>
        <p:spPr>
          <a:xfrm>
            <a:off x="4754880" y="804672"/>
            <a:ext cx="4114800" cy="4114800"/>
          </a:xfrm>
          <a:prstGeom prst="roundRect">
            <a:avLst>
              <a:gd name="adj" fmla="val 2222"/>
            </a:avLst>
          </a:prstGeom>
          <a:solidFill>
            <a:srgbClr val="FFFFFF"/>
          </a:solidFill>
          <a:ln w="12700">
            <a:solidFill>
              <a:srgbClr val="D97706">
                <a:alpha val="40000"/>
              </a:srgbClr>
            </a:solidFill>
            <a:prstDash val="solid"/>
          </a:ln>
          <a:effectLst>
            <a:outerShdw sx="100000" sy="100000" kx="0" ky="0" algn="bl" rotWithShape="0" blurRad="63500" dist="25400" dir="2700000">
              <a:srgbClr val="000000">
                <a:alpha val="8000"/>
              </a:srgbClr>
            </a:outerShdw>
          </a:effectLst>
        </p:spPr>
      </p:sp>
      <p:pic>
        <p:nvPicPr>
          <p:cNvPr id="21" name="Image 1" descr="preencoded.png">    </p:cNvPr>
          <p:cNvPicPr>
            <a:picLocks noChangeAspect="1"/>
          </p:cNvPicPr>
          <p:nvPr/>
        </p:nvPicPr>
        <p:blipFill>
          <a:blip r:embed="rId3"/>
          <a:stretch>
            <a:fillRect/>
          </a:stretch>
        </p:blipFill>
        <p:spPr>
          <a:xfrm>
            <a:off x="4919472" y="896112"/>
            <a:ext cx="274320" cy="274320"/>
          </a:xfrm>
          <a:prstGeom prst="rect">
            <a:avLst/>
          </a:prstGeom>
        </p:spPr>
      </p:pic>
      <p:sp>
        <p:nvSpPr>
          <p:cNvPr id="22" name="Text 17"/>
          <p:cNvSpPr/>
          <p:nvPr/>
        </p:nvSpPr>
        <p:spPr>
          <a:xfrm>
            <a:off x="5239512" y="868680"/>
            <a:ext cx="3566160" cy="347472"/>
          </a:xfrm>
          <a:prstGeom prst="rect">
            <a:avLst/>
          </a:prstGeom>
          <a:noFill/>
          <a:ln/>
        </p:spPr>
        <p:txBody>
          <a:bodyPr wrap="square" rtlCol="0" anchor="ctr"/>
          <a:lstStyle/>
          <a:p>
            <a:pPr indent="0" marL="0">
              <a:buNone/>
            </a:pPr>
            <a:r>
              <a:rPr lang="en-US" sz="1200" b="1" dirty="0">
                <a:solidFill>
                  <a:srgbClr val="D97706"/>
                </a:solidFill>
                <a:latin typeface="Calibri" pitchFamily="34" charset="0"/>
                <a:ea typeface="Calibri" pitchFamily="34" charset="-122"/>
                <a:cs typeface="Calibri" pitchFamily="34" charset="-120"/>
              </a:rPr>
              <a:t>Query by PI (Program Increment)</a:t>
            </a:r>
            <a:endParaRPr lang="en-US" sz="1200" dirty="0"/>
          </a:p>
        </p:txBody>
      </p:sp>
      <p:sp>
        <p:nvSpPr>
          <p:cNvPr id="23" name="Shape 18"/>
          <p:cNvSpPr/>
          <p:nvPr/>
        </p:nvSpPr>
        <p:spPr>
          <a:xfrm>
            <a:off x="4892040" y="1298448"/>
            <a:ext cx="3840480" cy="685800"/>
          </a:xfrm>
          <a:prstGeom prst="roundRect">
            <a:avLst>
              <a:gd name="adj" fmla="val 8000"/>
            </a:avLst>
          </a:prstGeom>
          <a:solidFill>
            <a:srgbClr val="1E293B"/>
          </a:solidFill>
          <a:ln w="12700">
            <a:solidFill>
              <a:srgbClr val="334155"/>
            </a:solidFill>
            <a:prstDash val="solid"/>
          </a:ln>
        </p:spPr>
      </p:sp>
      <p:sp>
        <p:nvSpPr>
          <p:cNvPr id="24" name="Text 19"/>
          <p:cNvSpPr/>
          <p:nvPr/>
        </p:nvSpPr>
        <p:spPr>
          <a:xfrm>
            <a:off x="4956048" y="1298448"/>
            <a:ext cx="3730752" cy="685800"/>
          </a:xfrm>
          <a:prstGeom prst="rect">
            <a:avLst/>
          </a:prstGeom>
          <a:noFill/>
          <a:ln/>
        </p:spPr>
        <p:txBody>
          <a:bodyPr wrap="square" rtlCol="0" anchor="ctr"/>
          <a:lstStyle/>
          <a:p>
            <a:pPr indent="0" marL="0">
              <a:buNone/>
            </a:pPr>
            <a:r>
              <a:rPr lang="en-US" sz="900" b="1" dirty="0">
                <a:solidFill>
                  <a:srgbClr val="6EE7B7"/>
                </a:solidFill>
                <a:latin typeface="Courier New" pitchFamily="34" charset="0"/>
                <a:ea typeface="Courier New" pitchFamily="34" charset="-122"/>
                <a:cs typeface="Courier New" pitchFamily="34" charset="-120"/>
              </a:rPr>
              <a:t>GET</a:t>
            </a:r>
            <a:pPr indent="0" marL="0">
              <a:buNone/>
            </a:pPr>
            <a:r>
              <a:rPr lang="en-US" sz="900" dirty="0">
                <a:solidFill>
                  <a:srgbClr val="7DD3FC"/>
                </a:solidFill>
                <a:latin typeface="Courier New" pitchFamily="34" charset="0"/>
                <a:ea typeface="Courier New" pitchFamily="34" charset="-122"/>
                <a:cs typeface="Courier New" pitchFamily="34" charset="-120"/>
              </a:rPr>
              <a:t> /rest/api/2/search</a:t>
            </a:r>
            <a:pPr indent="0" marL="0">
              <a:buNone/>
            </a:pPr>
            <a:endParaRPr lang="en-US" sz="900" dirty="0"/>
          </a:p>
          <a:p>
            <a:pPr indent="0" marL="0">
              <a:buNone/>
            </a:pPr>
            <a:r>
              <a:rPr lang="en-US" sz="900" dirty="0">
                <a:solidFill>
                  <a:srgbClr val="94A3B8"/>
                </a:solidFill>
                <a:latin typeface="Courier New" pitchFamily="34" charset="0"/>
                <a:ea typeface="Courier New" pitchFamily="34" charset="-122"/>
                <a:cs typeface="Courier New" pitchFamily="34" charset="-120"/>
              </a:rPr>
              <a:t>?jql=</a:t>
            </a:r>
            <a:endParaRPr lang="en-US" sz="900" dirty="0"/>
          </a:p>
          <a:p>
            <a:pPr indent="0" marL="0">
              <a:buNone/>
            </a:pPr>
            <a:r>
              <a:rPr lang="en-US" sz="900" dirty="0">
                <a:solidFill>
                  <a:srgbClr val="FCD34D"/>
                </a:solidFill>
                <a:latin typeface="Courier New" pitchFamily="34" charset="0"/>
                <a:ea typeface="Courier New" pitchFamily="34" charset="-122"/>
                <a:cs typeface="Courier New" pitchFamily="34" charset="-120"/>
              </a:rPr>
              <a:t>fixVersion = "PI-3"</a:t>
            </a:r>
            <a:endParaRPr lang="en-US" sz="900" dirty="0"/>
          </a:p>
        </p:txBody>
      </p:sp>
      <p:sp>
        <p:nvSpPr>
          <p:cNvPr id="25" name="Shape 20"/>
          <p:cNvSpPr/>
          <p:nvPr/>
        </p:nvSpPr>
        <p:spPr>
          <a:xfrm>
            <a:off x="4892040" y="2084832"/>
            <a:ext cx="3840480" cy="301752"/>
          </a:xfrm>
          <a:prstGeom prst="rect">
            <a:avLst/>
          </a:prstGeom>
          <a:solidFill>
            <a:srgbClr val="F8FAFC"/>
          </a:solidFill>
          <a:ln w="12700">
            <a:solidFill>
              <a:srgbClr val="F1F5F9"/>
            </a:solidFill>
            <a:prstDash val="solid"/>
          </a:ln>
        </p:spPr>
      </p:sp>
      <p:sp>
        <p:nvSpPr>
          <p:cNvPr id="26" name="Text 21"/>
          <p:cNvSpPr/>
          <p:nvPr/>
        </p:nvSpPr>
        <p:spPr>
          <a:xfrm>
            <a:off x="4983480" y="2084832"/>
            <a:ext cx="2560320" cy="301752"/>
          </a:xfrm>
          <a:prstGeom prst="rect">
            <a:avLst/>
          </a:prstGeom>
          <a:noFill/>
          <a:ln/>
        </p:spPr>
        <p:txBody>
          <a:bodyPr wrap="square"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PI-3 — Q2 2026</a:t>
            </a:r>
            <a:endParaRPr lang="en-US" sz="1000" dirty="0"/>
          </a:p>
        </p:txBody>
      </p:sp>
      <p:sp>
        <p:nvSpPr>
          <p:cNvPr id="27" name="Text 22"/>
          <p:cNvSpPr/>
          <p:nvPr/>
        </p:nvSpPr>
        <p:spPr>
          <a:xfrm>
            <a:off x="4983480" y="2404872"/>
            <a:ext cx="2560320" cy="301752"/>
          </a:xfrm>
          <a:prstGeom prst="rect">
            <a:avLst/>
          </a:prstGeom>
          <a:noFill/>
          <a:ln/>
        </p:spPr>
        <p:txBody>
          <a:bodyPr wrap="square" rtlCol="0" anchor="ctr"/>
          <a:lstStyle/>
          <a:p>
            <a:pPr indent="0" marL="0">
              <a:buNone/>
            </a:pPr>
            <a:r>
              <a:rPr lang="en-US" sz="1000" dirty="0">
                <a:solidFill>
                  <a:srgbClr val="475569"/>
                </a:solidFill>
                <a:latin typeface="Calibri" pitchFamily="34" charset="0"/>
                <a:ea typeface="Calibri" pitchFamily="34" charset="-122"/>
                <a:cs typeface="Calibri" pitchFamily="34" charset="-120"/>
              </a:rPr>
              <a:t>Total Actions</a:t>
            </a:r>
            <a:endParaRPr lang="en-US" sz="1000" dirty="0"/>
          </a:p>
        </p:txBody>
      </p:sp>
      <p:sp>
        <p:nvSpPr>
          <p:cNvPr id="28" name="Text 23"/>
          <p:cNvSpPr/>
          <p:nvPr/>
        </p:nvSpPr>
        <p:spPr>
          <a:xfrm>
            <a:off x="7498080" y="2404872"/>
            <a:ext cx="1097280" cy="301752"/>
          </a:xfrm>
          <a:prstGeom prst="rect">
            <a:avLst/>
          </a:prstGeom>
          <a:noFill/>
          <a:ln/>
        </p:spPr>
        <p:txBody>
          <a:bodyPr wrap="square" rtlCol="0" anchor="ctr"/>
          <a:lstStyle/>
          <a:p>
            <a:pPr algn="r" indent="0" marL="0">
              <a:buNone/>
            </a:pPr>
            <a:r>
              <a:rPr lang="en-US" sz="1000" b="1" dirty="0">
                <a:solidFill>
                  <a:srgbClr val="1E293B"/>
                </a:solidFill>
                <a:latin typeface="Calibri" pitchFamily="34" charset="0"/>
                <a:ea typeface="Calibri" pitchFamily="34" charset="-122"/>
                <a:cs typeface="Calibri" pitchFamily="34" charset="-120"/>
              </a:rPr>
              <a:t>214</a:t>
            </a:r>
            <a:endParaRPr lang="en-US" sz="1000" dirty="0"/>
          </a:p>
        </p:txBody>
      </p:sp>
      <p:sp>
        <p:nvSpPr>
          <p:cNvPr id="29" name="Shape 24"/>
          <p:cNvSpPr/>
          <p:nvPr/>
        </p:nvSpPr>
        <p:spPr>
          <a:xfrm>
            <a:off x="4892040" y="2724912"/>
            <a:ext cx="3840480" cy="301752"/>
          </a:xfrm>
          <a:prstGeom prst="rect">
            <a:avLst/>
          </a:prstGeom>
          <a:solidFill>
            <a:srgbClr val="F8FAFC"/>
          </a:solidFill>
          <a:ln w="12700">
            <a:solidFill>
              <a:srgbClr val="F1F5F9"/>
            </a:solidFill>
            <a:prstDash val="solid"/>
          </a:ln>
        </p:spPr>
      </p:sp>
      <p:sp>
        <p:nvSpPr>
          <p:cNvPr id="30" name="Text 25"/>
          <p:cNvSpPr/>
          <p:nvPr/>
        </p:nvSpPr>
        <p:spPr>
          <a:xfrm>
            <a:off x="4983480" y="2724912"/>
            <a:ext cx="2560320" cy="301752"/>
          </a:xfrm>
          <a:prstGeom prst="rect">
            <a:avLst/>
          </a:prstGeom>
          <a:noFill/>
          <a:ln/>
        </p:spPr>
        <p:txBody>
          <a:bodyPr wrap="square" rtlCol="0" anchor="ctr"/>
          <a:lstStyle/>
          <a:p>
            <a:pPr indent="0" marL="0">
              <a:buNone/>
            </a:pPr>
            <a:r>
              <a:rPr lang="en-US" sz="1000" dirty="0">
                <a:solidFill>
                  <a:srgbClr val="475569"/>
                </a:solidFill>
                <a:latin typeface="Calibri" pitchFamily="34" charset="0"/>
                <a:ea typeface="Calibri" pitchFamily="34" charset="-122"/>
                <a:cs typeface="Calibri" pitchFamily="34" charset="-120"/>
              </a:rPr>
              <a:t>AI Actions</a:t>
            </a:r>
            <a:endParaRPr lang="en-US" sz="1000" dirty="0"/>
          </a:p>
        </p:txBody>
      </p:sp>
      <p:sp>
        <p:nvSpPr>
          <p:cNvPr id="31" name="Text 26"/>
          <p:cNvSpPr/>
          <p:nvPr/>
        </p:nvSpPr>
        <p:spPr>
          <a:xfrm>
            <a:off x="7498080" y="2724912"/>
            <a:ext cx="1097280" cy="301752"/>
          </a:xfrm>
          <a:prstGeom prst="rect">
            <a:avLst/>
          </a:prstGeom>
          <a:noFill/>
          <a:ln/>
        </p:spPr>
        <p:txBody>
          <a:bodyPr wrap="square" rtlCol="0" anchor="ctr"/>
          <a:lstStyle/>
          <a:p>
            <a:pPr algn="r" indent="0" marL="0">
              <a:buNone/>
            </a:pPr>
            <a:r>
              <a:rPr lang="en-US" sz="1000" b="1" dirty="0">
                <a:solidFill>
                  <a:srgbClr val="4F46E5"/>
                </a:solidFill>
                <a:latin typeface="Calibri" pitchFamily="34" charset="0"/>
                <a:ea typeface="Calibri" pitchFamily="34" charset="-122"/>
                <a:cs typeface="Calibri" pitchFamily="34" charset="-120"/>
              </a:rPr>
              <a:t>142 (66%)</a:t>
            </a:r>
            <a:endParaRPr lang="en-US" sz="1000" dirty="0"/>
          </a:p>
        </p:txBody>
      </p:sp>
      <p:sp>
        <p:nvSpPr>
          <p:cNvPr id="32" name="Text 27"/>
          <p:cNvSpPr/>
          <p:nvPr/>
        </p:nvSpPr>
        <p:spPr>
          <a:xfrm>
            <a:off x="4983480" y="3044952"/>
            <a:ext cx="2560320" cy="301752"/>
          </a:xfrm>
          <a:prstGeom prst="rect">
            <a:avLst/>
          </a:prstGeom>
          <a:noFill/>
          <a:ln/>
        </p:spPr>
        <p:txBody>
          <a:bodyPr wrap="square" rtlCol="0" anchor="ctr"/>
          <a:lstStyle/>
          <a:p>
            <a:pPr indent="0" marL="0">
              <a:buNone/>
            </a:pPr>
            <a:r>
              <a:rPr lang="en-US" sz="1000" dirty="0">
                <a:solidFill>
                  <a:srgbClr val="475569"/>
                </a:solidFill>
                <a:latin typeface="Calibri" pitchFamily="34" charset="0"/>
                <a:ea typeface="Calibri" pitchFamily="34" charset="-122"/>
                <a:cs typeface="Calibri" pitchFamily="34" charset="-120"/>
              </a:rPr>
              <a:t>Human Actions</a:t>
            </a:r>
            <a:endParaRPr lang="en-US" sz="1000" dirty="0"/>
          </a:p>
        </p:txBody>
      </p:sp>
      <p:sp>
        <p:nvSpPr>
          <p:cNvPr id="33" name="Text 28"/>
          <p:cNvSpPr/>
          <p:nvPr/>
        </p:nvSpPr>
        <p:spPr>
          <a:xfrm>
            <a:off x="7498080" y="3044952"/>
            <a:ext cx="1097280" cy="301752"/>
          </a:xfrm>
          <a:prstGeom prst="rect">
            <a:avLst/>
          </a:prstGeom>
          <a:noFill/>
          <a:ln/>
        </p:spPr>
        <p:txBody>
          <a:bodyPr wrap="square" rtlCol="0" anchor="ctr"/>
          <a:lstStyle/>
          <a:p>
            <a:pPr algn="r" indent="0" marL="0">
              <a:buNone/>
            </a:pPr>
            <a:r>
              <a:rPr lang="en-US" sz="1000" b="1" dirty="0">
                <a:solidFill>
                  <a:srgbClr val="059669"/>
                </a:solidFill>
                <a:latin typeface="Calibri" pitchFamily="34" charset="0"/>
                <a:ea typeface="Calibri" pitchFamily="34" charset="-122"/>
                <a:cs typeface="Calibri" pitchFamily="34" charset="-120"/>
              </a:rPr>
              <a:t>72 (34%)</a:t>
            </a:r>
            <a:endParaRPr lang="en-US" sz="1000" dirty="0"/>
          </a:p>
        </p:txBody>
      </p:sp>
      <p:graphicFrame>
        <p:nvGraphicFramePr>
          <p:cNvPr id="34" name="Chart 1" descr=""/>
          <p:cNvGraphicFramePr/>
          <p:nvPr/>
        </p:nvGraphicFramePr>
        <p:xfrm>
          <a:off x="4892040" y="3364992"/>
          <a:ext cx="3840480" cy="1417320"/>
        </p:xfrm>
        <a:graphic xmlns:a="http://schemas.openxmlformats.org/drawingml/2006/main">
          <a:graphicData uri="http://schemas.openxmlformats.org/drawingml/2006/chart">
            <c:chart xmlns:c="http://schemas.openxmlformats.org/drawingml/2006/chart" r:id="rId4"/>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3A5F"/>
          </a:solidFill>
          <a:ln w="12700">
            <a:solidFill>
              <a:srgbClr val="1E3A5F"/>
            </a:solidFill>
            <a:prstDash val="solid"/>
          </a:ln>
        </p:spPr>
      </p:sp>
      <p:sp>
        <p:nvSpPr>
          <p:cNvPr id="3" name="Text 1"/>
          <p:cNvSpPr/>
          <p:nvPr/>
        </p:nvSpPr>
        <p:spPr>
          <a:xfrm>
            <a:off x="274320" y="0"/>
            <a:ext cx="548640" cy="685800"/>
          </a:xfrm>
          <a:prstGeom prst="rect">
            <a:avLst/>
          </a:prstGeom>
          <a:noFill/>
          <a:ln/>
        </p:spPr>
        <p:txBody>
          <a:bodyPr wrap="square" rtlCol="0" anchor="ctr"/>
          <a:lstStyle/>
          <a:p>
            <a:pPr indent="0" marL="0">
              <a:buNone/>
            </a:pPr>
            <a:r>
              <a:rPr lang="en-US" sz="1100" b="1" dirty="0">
                <a:solidFill>
                  <a:srgbClr val="818CF8"/>
                </a:solidFill>
                <a:latin typeface="Calibri" pitchFamily="34" charset="0"/>
                <a:ea typeface="Calibri" pitchFamily="34" charset="-122"/>
                <a:cs typeface="Calibri" pitchFamily="34" charset="-120"/>
              </a:rPr>
              <a:t>04</a:t>
            </a:r>
            <a:endParaRPr lang="en-US" sz="1100" dirty="0"/>
          </a:p>
        </p:txBody>
      </p:sp>
      <p:sp>
        <p:nvSpPr>
          <p:cNvPr id="4" name="Text 2"/>
          <p:cNvSpPr/>
          <p:nvPr/>
        </p:nvSpPr>
        <p:spPr>
          <a:xfrm>
            <a:off x="777240" y="0"/>
            <a:ext cx="8229600" cy="685800"/>
          </a:xfrm>
          <a:prstGeom prst="rect">
            <a:avLst/>
          </a:prstGeom>
          <a:noFill/>
          <a:ln/>
        </p:spPr>
        <p:txBody>
          <a:bodyPr wrap="square"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APIs USED  —  ALL EXISTING JIRA REST API v2</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82880" y="804672"/>
          <a:ext cx="8778240" cy="914400"/>
        </p:xfrm>
        <a:graphic>
          <a:graphicData uri="http://schemas.openxmlformats.org/drawingml/2006/table">
            <a:tbl>
              <a:tblPr/>
              <a:tblGrid>
                <a:gridCol w="320040"/>
                <a:gridCol w="640080"/>
                <a:gridCol w="3474720"/>
                <a:gridCol w="3017520"/>
                <a:gridCol w="960120"/>
              </a:tblGrid>
              <a:tr h="384048">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Method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Endpoint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Purpose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Used By</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tr>
              <a:tr h="384048">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000" b="1" dirty="0">
                          <a:solidFill>
                            <a:srgbClr val="059669"/>
                          </a:solidFill>
                          <a:latin typeface="Courier New" pitchFamily="34" charset="0"/>
                          <a:ea typeface="Courier New" pitchFamily="34" charset="-122"/>
                          <a:cs typeface="Courier New" pitchFamily="34" charset="-120"/>
                        </a:rPr>
                        <a:t>PUT</a:t>
                      </a:r>
                      <a:endParaRPr lang="en-US" sz="1000" dirty="0">
                        <a:latin typeface="Courier New" charset="0"/>
                        <a:ea typeface="Courier New" charset="0"/>
                        <a:cs typeface="Courier New"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800" dirty="0">
                          <a:solidFill>
                            <a:srgbClr val="1E40AF"/>
                          </a:solidFill>
                          <a:latin typeface="Courier New" pitchFamily="34" charset="0"/>
                          <a:ea typeface="Courier New" pitchFamily="34" charset="-122"/>
                          <a:cs typeface="Courier New" pitchFamily="34" charset="-120"/>
                        </a:rPr>
                        <a:t>/issue/{key}/worklog/{id}/properties/worklog-source</a:t>
                      </a:r>
                      <a:endParaRPr lang="en-US" sz="800" dirty="0">
                        <a:latin typeface="Courier New" charset="0"/>
                        <a:ea typeface="Courier New" charset="0"/>
                        <a:cs typeface="Courier New"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Write AI or Human source tag onto worklog</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000" b="1" dirty="0">
                          <a:solidFill>
                            <a:srgbClr val="D97706"/>
                          </a:solidFill>
                          <a:latin typeface="Calibri" pitchFamily="34" charset="0"/>
                          <a:ea typeface="Calibri" pitchFamily="34" charset="-122"/>
                          <a:cs typeface="Calibri" pitchFamily="34" charset="-120"/>
                        </a:rPr>
                        <a:t>Both</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384048">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2563EB"/>
                          </a:solidFill>
                          <a:latin typeface="Courier New" pitchFamily="34" charset="0"/>
                          <a:ea typeface="Courier New" pitchFamily="34" charset="-122"/>
                          <a:cs typeface="Courier New" pitchFamily="34" charset="-120"/>
                        </a:rPr>
                        <a:t>GET</a:t>
                      </a:r>
                      <a:endParaRPr lang="en-US" sz="1000" dirty="0">
                        <a:latin typeface="Courier New" charset="0"/>
                        <a:ea typeface="Courier New" charset="0"/>
                        <a:cs typeface="Courier New"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1E40AF"/>
                          </a:solidFill>
                          <a:latin typeface="Courier New" pitchFamily="34" charset="0"/>
                          <a:ea typeface="Courier New" pitchFamily="34" charset="-122"/>
                          <a:cs typeface="Courier New" pitchFamily="34" charset="-120"/>
                        </a:rPr>
                        <a:t>/issue/{key}/worklog/{id}/properties/worklog-source</a:t>
                      </a:r>
                      <a:endParaRPr lang="en-US" sz="800" dirty="0">
                        <a:latin typeface="Courier New" charset="0"/>
                        <a:ea typeface="Courier New" charset="0"/>
                        <a:cs typeface="Courier New"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Read back source tag for any worklog entry</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D97706"/>
                          </a:solidFill>
                          <a:latin typeface="Calibri" pitchFamily="34" charset="0"/>
                          <a:ea typeface="Calibri" pitchFamily="34" charset="-122"/>
                          <a:cs typeface="Calibri" pitchFamily="34" charset="-120"/>
                        </a:rPr>
                        <a:t>Dashboard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000" b="1" dirty="0">
                          <a:solidFill>
                            <a:srgbClr val="2563EB"/>
                          </a:solidFill>
                          <a:latin typeface="Courier New" pitchFamily="34" charset="0"/>
                          <a:ea typeface="Courier New" pitchFamily="34" charset="-122"/>
                          <a:cs typeface="Courier New" pitchFamily="34" charset="-120"/>
                        </a:rPr>
                        <a:t>GET</a:t>
                      </a:r>
                      <a:endParaRPr lang="en-US" sz="1000" dirty="0">
                        <a:latin typeface="Courier New" charset="0"/>
                        <a:ea typeface="Courier New" charset="0"/>
                        <a:cs typeface="Courier New"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800" dirty="0">
                          <a:solidFill>
                            <a:srgbClr val="1E40AF"/>
                          </a:solidFill>
                          <a:latin typeface="Courier New" pitchFamily="34" charset="0"/>
                          <a:ea typeface="Courier New" pitchFamily="34" charset="-122"/>
                          <a:cs typeface="Courier New" pitchFamily="34" charset="-120"/>
                        </a:rPr>
                        <a:t>/search?jql="Epic Link"=EPIC-42</a:t>
                      </a:r>
                      <a:endParaRPr lang="en-US" sz="800" dirty="0">
                        <a:latin typeface="Courier New" charset="0"/>
                        <a:ea typeface="Courier New" charset="0"/>
                        <a:cs typeface="Courier New"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Fetch all issues under a given Epic</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000" b="1" dirty="0">
                          <a:solidFill>
                            <a:srgbClr val="D97706"/>
                          </a:solidFill>
                          <a:latin typeface="Calibri" pitchFamily="34" charset="0"/>
                          <a:ea typeface="Calibri" pitchFamily="34" charset="-122"/>
                          <a:cs typeface="Calibri" pitchFamily="34" charset="-120"/>
                        </a:rPr>
                        <a:t>Dashboard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384048">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2563EB"/>
                          </a:solidFill>
                          <a:latin typeface="Courier New" pitchFamily="34" charset="0"/>
                          <a:ea typeface="Courier New" pitchFamily="34" charset="-122"/>
                          <a:cs typeface="Courier New" pitchFamily="34" charset="-120"/>
                        </a:rPr>
                        <a:t>GET</a:t>
                      </a:r>
                      <a:endParaRPr lang="en-US" sz="1000" dirty="0">
                        <a:latin typeface="Courier New" charset="0"/>
                        <a:ea typeface="Courier New" charset="0"/>
                        <a:cs typeface="Courier New"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1E40AF"/>
                          </a:solidFill>
                          <a:latin typeface="Courier New" pitchFamily="34" charset="0"/>
                          <a:ea typeface="Courier New" pitchFamily="34" charset="-122"/>
                          <a:cs typeface="Courier New" pitchFamily="34" charset="-120"/>
                        </a:rPr>
                        <a:t>/search?jql=fixVersion="PI-3"</a:t>
                      </a:r>
                      <a:endParaRPr lang="en-US" sz="800" dirty="0">
                        <a:latin typeface="Courier New" charset="0"/>
                        <a:ea typeface="Courier New" charset="0"/>
                        <a:cs typeface="Courier New"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Fetch all issues under a given PI</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D97706"/>
                          </a:solidFill>
                          <a:latin typeface="Calibri" pitchFamily="34" charset="0"/>
                          <a:ea typeface="Calibri" pitchFamily="34" charset="-122"/>
                          <a:cs typeface="Calibri" pitchFamily="34" charset="-120"/>
                        </a:rPr>
                        <a:t>Dashboard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000" b="1" dirty="0">
                          <a:solidFill>
                            <a:srgbClr val="DC2626"/>
                          </a:solidFill>
                          <a:latin typeface="Courier New" pitchFamily="34" charset="0"/>
                          <a:ea typeface="Courier New" pitchFamily="34" charset="-122"/>
                          <a:cs typeface="Courier New" pitchFamily="34" charset="-120"/>
                        </a:rPr>
                        <a:t>POST</a:t>
                      </a:r>
                      <a:endParaRPr lang="en-US" sz="1000" dirty="0">
                        <a:latin typeface="Courier New" charset="0"/>
                        <a:ea typeface="Courier New" charset="0"/>
                        <a:cs typeface="Courier New"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800" dirty="0">
                          <a:solidFill>
                            <a:srgbClr val="1E40AF"/>
                          </a:solidFill>
                          <a:latin typeface="Courier New" pitchFamily="34" charset="0"/>
                          <a:ea typeface="Courier New" pitchFamily="34" charset="-122"/>
                          <a:cs typeface="Courier New" pitchFamily="34" charset="-120"/>
                        </a:rPr>
                        <a:t>/webhook</a:t>
                      </a:r>
                      <a:endParaRPr lang="en-US" sz="800" dirty="0">
                        <a:latin typeface="Courier New" charset="0"/>
                        <a:ea typeface="Courier New" charset="0"/>
                        <a:cs typeface="Courier New"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Register webhook to catch all human GUI actions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000" b="1" dirty="0">
                          <a:solidFill>
                            <a:srgbClr val="7C3AED"/>
                          </a:solidFill>
                          <a:latin typeface="Calibri" pitchFamily="34" charset="0"/>
                          <a:ea typeface="Calibri" pitchFamily="34" charset="-122"/>
                          <a:cs typeface="Calibri" pitchFamily="34" charset="-120"/>
                        </a:rPr>
                        <a:t>One-time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384048">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2563EB"/>
                          </a:solidFill>
                          <a:latin typeface="Courier New" pitchFamily="34" charset="0"/>
                          <a:ea typeface="Courier New" pitchFamily="34" charset="-122"/>
                          <a:cs typeface="Courier New" pitchFamily="34" charset="-120"/>
                        </a:rPr>
                        <a:t>GET</a:t>
                      </a:r>
                      <a:endParaRPr lang="en-US" sz="1000" dirty="0">
                        <a:latin typeface="Courier New" charset="0"/>
                        <a:ea typeface="Courier New" charset="0"/>
                        <a:cs typeface="Courier New"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1E40AF"/>
                          </a:solidFill>
                          <a:latin typeface="Courier New" pitchFamily="34" charset="0"/>
                          <a:ea typeface="Courier New" pitchFamily="34" charset="-122"/>
                          <a:cs typeface="Courier New" pitchFamily="34" charset="-120"/>
                        </a:rPr>
                        <a:t>/issue/{key}/worklog</a:t>
                      </a:r>
                      <a:endParaRPr lang="en-US" sz="800" dirty="0">
                        <a:latin typeface="Courier New" charset="0"/>
                        <a:ea typeface="Courier New" charset="0"/>
                        <a:cs typeface="Courier New"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List all worklogs on an issue for querying</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D97706"/>
                          </a:solidFill>
                          <a:latin typeface="Calibri" pitchFamily="34" charset="0"/>
                          <a:ea typeface="Calibri" pitchFamily="34" charset="-122"/>
                          <a:cs typeface="Calibri" pitchFamily="34" charset="-120"/>
                        </a:rPr>
                        <a:t>Dashboard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6" name="Shape 3"/>
          <p:cNvSpPr/>
          <p:nvPr/>
        </p:nvSpPr>
        <p:spPr>
          <a:xfrm>
            <a:off x="182880" y="4206240"/>
            <a:ext cx="2743200" cy="713232"/>
          </a:xfrm>
          <a:prstGeom prst="roundRect">
            <a:avLst>
              <a:gd name="adj" fmla="val 10256"/>
            </a:avLst>
          </a:prstGeom>
          <a:solidFill>
            <a:srgbClr val="EEF2FF"/>
          </a:solidFill>
          <a:ln w="12700">
            <a:solidFill>
              <a:srgbClr val="4F46E5">
                <a:alpha val="50000"/>
              </a:srgbClr>
            </a:solidFill>
            <a:prstDash val="solid"/>
          </a:ln>
          <a:effectLst>
            <a:outerShdw sx="100000" sy="100000" kx="0" ky="0" algn="bl" rotWithShape="0" blurRad="63500" dist="25400" dir="2700000">
              <a:srgbClr val="000000">
                <a:alpha val="8000"/>
              </a:srgbClr>
            </a:outerShdw>
          </a:effectLst>
        </p:spPr>
      </p:sp>
      <p:pic>
        <p:nvPicPr>
          <p:cNvPr id="7" name="Image 0" descr="preencoded.png">    </p:cNvPr>
          <p:cNvPicPr>
            <a:picLocks noChangeAspect="1"/>
          </p:cNvPicPr>
          <p:nvPr/>
        </p:nvPicPr>
        <p:blipFill>
          <a:blip r:embed="rId1"/>
          <a:stretch>
            <a:fillRect/>
          </a:stretch>
        </p:blipFill>
        <p:spPr>
          <a:xfrm>
            <a:off x="320040" y="4315968"/>
            <a:ext cx="256032" cy="256032"/>
          </a:xfrm>
          <a:prstGeom prst="rect">
            <a:avLst/>
          </a:prstGeom>
        </p:spPr>
      </p:pic>
      <p:sp>
        <p:nvSpPr>
          <p:cNvPr id="8" name="Text 4"/>
          <p:cNvSpPr/>
          <p:nvPr/>
        </p:nvSpPr>
        <p:spPr>
          <a:xfrm>
            <a:off x="640080" y="4224528"/>
            <a:ext cx="2240280" cy="676656"/>
          </a:xfrm>
          <a:prstGeom prst="rect">
            <a:avLst/>
          </a:prstGeom>
          <a:noFill/>
          <a:ln/>
        </p:spPr>
        <p:txBody>
          <a:bodyPr wrap="square" rtlCol="0" anchor="ctr"/>
          <a:lstStyle/>
          <a:p>
            <a:pPr indent="0" marL="0">
              <a:lnSpc>
                <a:spcPct val="120000"/>
              </a:lnSpc>
              <a:buNone/>
            </a:pPr>
            <a:r>
              <a:rPr lang="en-US" sz="950" b="1" dirty="0">
                <a:solidFill>
                  <a:srgbClr val="4F46E5"/>
                </a:solidFill>
                <a:latin typeface="Calibri" pitchFamily="34" charset="0"/>
                <a:ea typeface="Calibri" pitchFamily="34" charset="-122"/>
                <a:cs typeface="Calibri" pitchFamily="34" charset="-120"/>
              </a:rPr>
              <a:t>API #1 is the core</a:t>
            </a:r>
            <a:endParaRPr lang="en-US" sz="950" dirty="0"/>
          </a:p>
          <a:p>
            <a:pPr indent="0" marL="0">
              <a:lnSpc>
                <a:spcPct val="120000"/>
              </a:lnSpc>
              <a:buNone/>
            </a:pPr>
            <a:r>
              <a:rPr lang="en-US" sz="950" b="1" dirty="0">
                <a:solidFill>
                  <a:srgbClr val="4F46E5"/>
                </a:solidFill>
                <a:latin typeface="Calibri" pitchFamily="34" charset="0"/>
                <a:ea typeface="Calibri" pitchFamily="34" charset="-122"/>
                <a:cs typeface="Calibri" pitchFamily="34" charset="-120"/>
              </a:rPr>
              <a:t>of the entire solution</a:t>
            </a:r>
            <a:endParaRPr lang="en-US" sz="950" dirty="0"/>
          </a:p>
        </p:txBody>
      </p:sp>
      <p:sp>
        <p:nvSpPr>
          <p:cNvPr id="9" name="Shape 5"/>
          <p:cNvSpPr/>
          <p:nvPr/>
        </p:nvSpPr>
        <p:spPr>
          <a:xfrm>
            <a:off x="3108960" y="4206240"/>
            <a:ext cx="2743200" cy="713232"/>
          </a:xfrm>
          <a:prstGeom prst="roundRect">
            <a:avLst>
              <a:gd name="adj" fmla="val 10256"/>
            </a:avLst>
          </a:prstGeom>
          <a:solidFill>
            <a:srgbClr val="FDF4FF"/>
          </a:solidFill>
          <a:ln w="12700">
            <a:solidFill>
              <a:srgbClr val="7C3AED">
                <a:alpha val="50000"/>
              </a:srgbClr>
            </a:solidFill>
            <a:prstDash val="solid"/>
          </a:ln>
          <a:effectLst>
            <a:outerShdw sx="100000" sy="100000" kx="0" ky="0" algn="bl" rotWithShape="0" blurRad="63500" dist="25400" dir="2700000">
              <a:srgbClr val="000000">
                <a:alpha val="8000"/>
              </a:srgbClr>
            </a:outerShdw>
          </a:effectLst>
        </p:spPr>
      </p:sp>
      <p:pic>
        <p:nvPicPr>
          <p:cNvPr id="10" name="Image 1" descr="preencoded.png">    </p:cNvPr>
          <p:cNvPicPr>
            <a:picLocks noChangeAspect="1"/>
          </p:cNvPicPr>
          <p:nvPr/>
        </p:nvPicPr>
        <p:blipFill>
          <a:blip r:embed="rId2"/>
          <a:stretch>
            <a:fillRect/>
          </a:stretch>
        </p:blipFill>
        <p:spPr>
          <a:xfrm>
            <a:off x="3246120" y="4315968"/>
            <a:ext cx="256032" cy="256032"/>
          </a:xfrm>
          <a:prstGeom prst="rect">
            <a:avLst/>
          </a:prstGeom>
        </p:spPr>
      </p:pic>
      <p:sp>
        <p:nvSpPr>
          <p:cNvPr id="11" name="Text 6"/>
          <p:cNvSpPr/>
          <p:nvPr/>
        </p:nvSpPr>
        <p:spPr>
          <a:xfrm>
            <a:off x="3566160" y="4224528"/>
            <a:ext cx="2240280" cy="676656"/>
          </a:xfrm>
          <a:prstGeom prst="rect">
            <a:avLst/>
          </a:prstGeom>
          <a:noFill/>
          <a:ln/>
        </p:spPr>
        <p:txBody>
          <a:bodyPr wrap="square" rtlCol="0" anchor="ctr"/>
          <a:lstStyle/>
          <a:p>
            <a:pPr indent="0" marL="0">
              <a:lnSpc>
                <a:spcPct val="120000"/>
              </a:lnSpc>
              <a:buNone/>
            </a:pPr>
            <a:r>
              <a:rPr lang="en-US" sz="950" b="1" dirty="0">
                <a:solidFill>
                  <a:srgbClr val="7C3AED"/>
                </a:solidFill>
                <a:latin typeface="Calibri" pitchFamily="34" charset="0"/>
                <a:ea typeface="Calibri" pitchFamily="34" charset="-122"/>
                <a:cs typeface="Calibri" pitchFamily="34" charset="-120"/>
              </a:rPr>
              <a:t>API #5 webhook is</a:t>
            </a:r>
            <a:endParaRPr lang="en-US" sz="950" dirty="0"/>
          </a:p>
          <a:p>
            <a:pPr indent="0" marL="0">
              <a:lnSpc>
                <a:spcPct val="120000"/>
              </a:lnSpc>
              <a:buNone/>
            </a:pPr>
            <a:r>
              <a:rPr lang="en-US" sz="950" b="1" dirty="0">
                <a:solidFill>
                  <a:srgbClr val="7C3AED"/>
                </a:solidFill>
                <a:latin typeface="Calibri" pitchFamily="34" charset="0"/>
                <a:ea typeface="Calibri" pitchFamily="34" charset="-122"/>
                <a:cs typeface="Calibri" pitchFamily="34" charset="-120"/>
              </a:rPr>
              <a:t>one-time setup only</a:t>
            </a:r>
            <a:endParaRPr lang="en-US" sz="950" dirty="0"/>
          </a:p>
        </p:txBody>
      </p:sp>
      <p:sp>
        <p:nvSpPr>
          <p:cNvPr id="12" name="Shape 7"/>
          <p:cNvSpPr/>
          <p:nvPr/>
        </p:nvSpPr>
        <p:spPr>
          <a:xfrm>
            <a:off x="6035040" y="4206240"/>
            <a:ext cx="2743200" cy="713232"/>
          </a:xfrm>
          <a:prstGeom prst="roundRect">
            <a:avLst>
              <a:gd name="adj" fmla="val 10256"/>
            </a:avLst>
          </a:prstGeom>
          <a:solidFill>
            <a:srgbClr val="EFF6FF"/>
          </a:solidFill>
          <a:ln w="12700">
            <a:solidFill>
              <a:srgbClr val="2563EB">
                <a:alpha val="50000"/>
              </a:srgbClr>
            </a:solidFill>
            <a:prstDash val="solid"/>
          </a:ln>
          <a:effectLst>
            <a:outerShdw sx="100000" sy="100000" kx="0" ky="0" algn="bl" rotWithShape="0" blurRad="63500" dist="25400" dir="2700000">
              <a:srgbClr val="000000">
                <a:alpha val="8000"/>
              </a:srgbClr>
            </a:outerShdw>
          </a:effectLst>
        </p:spPr>
      </p:sp>
      <p:pic>
        <p:nvPicPr>
          <p:cNvPr id="13" name="Image 2" descr="preencoded.png">    </p:cNvPr>
          <p:cNvPicPr>
            <a:picLocks noChangeAspect="1"/>
          </p:cNvPicPr>
          <p:nvPr/>
        </p:nvPicPr>
        <p:blipFill>
          <a:blip r:embed="rId3"/>
          <a:stretch>
            <a:fillRect/>
          </a:stretch>
        </p:blipFill>
        <p:spPr>
          <a:xfrm>
            <a:off x="6172200" y="4315968"/>
            <a:ext cx="256032" cy="256032"/>
          </a:xfrm>
          <a:prstGeom prst="rect">
            <a:avLst/>
          </a:prstGeom>
        </p:spPr>
      </p:pic>
      <p:sp>
        <p:nvSpPr>
          <p:cNvPr id="14" name="Text 8"/>
          <p:cNvSpPr/>
          <p:nvPr/>
        </p:nvSpPr>
        <p:spPr>
          <a:xfrm>
            <a:off x="6492240" y="4224528"/>
            <a:ext cx="2240280" cy="676656"/>
          </a:xfrm>
          <a:prstGeom prst="rect">
            <a:avLst/>
          </a:prstGeom>
          <a:noFill/>
          <a:ln/>
        </p:spPr>
        <p:txBody>
          <a:bodyPr wrap="square" rtlCol="0" anchor="ctr"/>
          <a:lstStyle/>
          <a:p>
            <a:pPr indent="0" marL="0">
              <a:lnSpc>
                <a:spcPct val="120000"/>
              </a:lnSpc>
              <a:buNone/>
            </a:pPr>
            <a:r>
              <a:rPr lang="en-US" sz="950" b="1" dirty="0">
                <a:solidFill>
                  <a:srgbClr val="2563EB"/>
                </a:solidFill>
                <a:latin typeface="Calibri" pitchFamily="34" charset="0"/>
                <a:ea typeface="Calibri" pitchFamily="34" charset="-122"/>
                <a:cs typeface="Calibri" pitchFamily="34" charset="-120"/>
              </a:rPr>
              <a:t>APIs #3 &amp; #4 power</a:t>
            </a:r>
            <a:endParaRPr lang="en-US" sz="950" dirty="0"/>
          </a:p>
          <a:p>
            <a:pPr indent="0" marL="0">
              <a:lnSpc>
                <a:spcPct val="120000"/>
              </a:lnSpc>
              <a:buNone/>
            </a:pPr>
            <a:r>
              <a:rPr lang="en-US" sz="950" b="1" dirty="0">
                <a:solidFill>
                  <a:srgbClr val="2563EB"/>
                </a:solidFill>
                <a:latin typeface="Calibri" pitchFamily="34" charset="0"/>
                <a:ea typeface="Calibri" pitchFamily="34" charset="-122"/>
                <a:cs typeface="Calibri" pitchFamily="34" charset="-120"/>
              </a:rPr>
              <a:t>the dashboard queries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Jira AI vs Human Activity Tracker</dc:title>
  <dc:subject>PptxGenJS Presentation</dc:subject>
  <dc:creator>Engineering Team</dc:creator>
  <cp:lastModifiedBy>Engineering Team</cp:lastModifiedBy>
  <cp:revision>1</cp:revision>
  <dcterms:created xsi:type="dcterms:W3CDTF">2026-06-17T16:34:21Z</dcterms:created>
  <dcterms:modified xsi:type="dcterms:W3CDTF">2026-06-17T16:34:21Z</dcterms:modified>
</cp:coreProperties>
</file>